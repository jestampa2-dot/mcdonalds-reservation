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E3BC963D-8DC1-4B63-AA74-3CC9C8A6B5E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8E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A928EC6-015A-4A62-B5B1-524C5FD246E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FFC72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54920DD-EBFC-443E-9398-25549366BFF3}"/>
              </a:ext>
            </a:extLst>
          </p:cNvPr>
          <p:cNvSpPr>
            <a:spLocks noGrp="1"/>
          </p:cNvSpPr>
          <p:nvPr/>
        </p:nvSpPr>
        <p:spPr>
          <a:xfrm>
            <a:off x="0" y="152400"/>
            <a:ext cx="12192000" cy="47625"/>
          </a:xfrm>
          <a:prstGeom prst="rect">
            <a:avLst/>
          </a:prstGeom>
          <a:solidFill>
            <a:srgbClr val="DA291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3940A61-AC9D-4A23-8C0B-4434EB7FEACC}"/>
              </a:ext>
            </a:extLst>
          </p:cNvPr>
          <p:cNvSpPr>
            <a:spLocks noGrp="1"/>
          </p:cNvSpPr>
          <p:nvPr/>
        </p:nvSpPr>
        <p:spPr>
          <a:xfrm>
            <a:off x="0" y="4476750"/>
            <a:ext cx="12192000" cy="2381250"/>
          </a:xfrm>
          <a:prstGeom prst="rect">
            <a:avLst/>
          </a:prstGeom>
          <a:solidFill>
            <a:srgbClr val="FFC72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94A3819-AC2B-4445-858C-8078466D64E2}"/>
              </a:ext>
            </a:extLst>
          </p:cNvPr>
          <p:cNvSpPr>
            <a:spLocks noGrp="1"/>
          </p:cNvSpPr>
          <p:nvPr/>
        </p:nvSpPr>
        <p:spPr>
          <a:xfrm>
            <a:off x="7620000" y="952500"/>
            <a:ext cx="3429000" cy="3429000"/>
          </a:xfrm>
          <a:prstGeom prst="ellipse">
            <a:avLst/>
          </a:prstGeom>
          <a:solidFill>
            <a:srgbClr val="FFE9A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FF77F89-BF5F-48D5-BE90-846EBDE61DC8}"/>
              </a:ext>
            </a:extLst>
          </p:cNvPr>
          <p:cNvSpPr>
            <a:spLocks noGrp="1"/>
          </p:cNvSpPr>
          <p:nvPr/>
        </p:nvSpPr>
        <p:spPr>
          <a:xfrm>
            <a:off x="8286750" y="1619250"/>
            <a:ext cx="2095500" cy="2095500"/>
          </a:xfrm>
          <a:prstGeom prst="ellipse">
            <a:avLst/>
          </a:prstGeom>
          <a:solidFill>
            <a:srgbClr val="DA291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496232C-1EA2-4A10-9D89-43C0268E722E}"/>
              </a:ext>
            </a:extLst>
          </p:cNvPr>
          <p:cNvSpPr>
            <a:spLocks noGrp="1"/>
          </p:cNvSpPr>
          <p:nvPr/>
        </p:nvSpPr>
        <p:spPr>
          <a:xfrm>
            <a:off x="666750" y="904875"/>
            <a:ext cx="72390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450" b="1">
                <a:solidFill>
                  <a:srgbClr val="241714"/>
                </a:solidFill>
                <a:latin typeface="Georgia"/>
                <a:ea typeface="Georgia"/>
                <a:cs typeface="Georgia"/>
              </a:defRPr>
            </a:pPr>
            <a:r>
              <a:rPr sz="3450" b="1">
                <a:solidFill>
                  <a:srgbClr val="241714"/>
                </a:solidFill>
                <a:latin typeface="Georgia"/>
                <a:ea typeface="Georgia"/>
                <a:cs typeface="Georgia"/>
              </a:rPr>
              <a:t>McDonald's Event Planner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65E197F-CC3B-417D-947B-32B80B46F796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723900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0">
                <a:solidFill>
                  <a:srgbClr val="6A5647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6A5647"/>
                </a:solidFill>
                <a:latin typeface="Aptos"/>
                <a:ea typeface="Aptos"/>
                <a:cs typeface="Aptos"/>
              </a:rPr>
              <a:t>A Digital Integrated System for Birthday Parties, Business Meetings, and Reservations in Surigao Branch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16394C8-A2AE-4D43-91F4-D7E0E559F3B9}"/>
              </a:ext>
            </a:extLst>
          </p:cNvPr>
          <p:cNvSpPr>
            <a:spLocks noGrp="1"/>
          </p:cNvSpPr>
          <p:nvPr/>
        </p:nvSpPr>
        <p:spPr>
          <a:xfrm>
            <a:off x="685800" y="2876550"/>
            <a:ext cx="2381250" cy="57150"/>
          </a:xfrm>
          <a:prstGeom prst="rect">
            <a:avLst/>
          </a:prstGeom>
          <a:solidFill>
            <a:srgbClr val="DA291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0F44B44-8C33-43F6-9268-7B65C3520827}"/>
              </a:ext>
            </a:extLst>
          </p:cNvPr>
          <p:cNvSpPr>
            <a:spLocks noGrp="1"/>
          </p:cNvSpPr>
          <p:nvPr/>
        </p:nvSpPr>
        <p:spPr>
          <a:xfrm>
            <a:off x="685800" y="3162300"/>
            <a:ext cx="4572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9F191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9F1914"/>
                </a:solidFill>
                <a:latin typeface="Aptos"/>
                <a:ea typeface="Aptos"/>
                <a:cs typeface="Aptos"/>
              </a:rPr>
              <a:t>Capstone Project Summary Deck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A9669BB-623D-41AB-AC23-950C8FA87FF6}"/>
              </a:ext>
            </a:extLst>
          </p:cNvPr>
          <p:cNvSpPr>
            <a:spLocks noGrp="1"/>
          </p:cNvSpPr>
          <p:nvPr/>
        </p:nvSpPr>
        <p:spPr>
          <a:xfrm>
            <a:off x="685800" y="3476625"/>
            <a:ext cx="4572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A564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A5647"/>
                </a:solidFill>
                <a:latin typeface="Aptos"/>
                <a:ea typeface="Aptos"/>
                <a:cs typeface="Aptos"/>
              </a:rPr>
              <a:t>Prepared for thesis/capstone presentation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BFDF0C9-D841-4B3E-960A-185545077146}"/>
              </a:ext>
            </a:extLst>
          </p:cNvPr>
          <p:cNvSpPr>
            <a:spLocks noGrp="1"/>
          </p:cNvSpPr>
          <p:nvPr/>
        </p:nvSpPr>
        <p:spPr>
          <a:xfrm>
            <a:off x="685800" y="5810250"/>
            <a:ext cx="7429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24171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41714"/>
                </a:solidFill>
                <a:latin typeface="Aptos"/>
                <a:ea typeface="Aptos"/>
                <a:cs typeface="Aptos"/>
              </a:rPr>
              <a:t>Project team: Jay Christian Estampa · Harderly Panangganan · Cara Regina Yanoc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C8F171B-99E0-4293-AB7E-1482ACB79F52}"/>
              </a:ext>
            </a:extLst>
          </p:cNvPr>
          <p:cNvSpPr>
            <a:spLocks noGrp="1"/>
          </p:cNvSpPr>
          <p:nvPr/>
        </p:nvSpPr>
        <p:spPr>
          <a:xfrm>
            <a:off x="11287125" y="63246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A564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A5647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6518E28-435D-45C0-B4AC-02D10753F0B7}"/>
              </a:ext>
            </a:extLst>
          </p:cNvPr>
          <p:cNvSpPr>
            <a:spLocks noGrp="1"/>
          </p:cNvSpPr>
          <p:nvPr/>
        </p:nvSpPr>
        <p:spPr>
          <a:xfrm>
            <a:off x="571500" y="6448425"/>
            <a:ext cx="10287000" cy="9525"/>
          </a:xfrm>
          <a:prstGeom prst="rect">
            <a:avLst/>
          </a:prstGeom>
          <a:solidFill>
            <a:srgbClr val="E6D5B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DB9057F-AF26-798B-4604-9436A5A096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5750" y="1907382"/>
            <a:ext cx="2705099" cy="1521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451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FF13FFAF-3FF5-4A3A-9200-B986D99A2BD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8E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5F1651C-2FFC-4380-8EB0-25054D51965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FFC72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FFDE437-7028-4C3C-85FD-D54C2A9C3DCD}"/>
              </a:ext>
            </a:extLst>
          </p:cNvPr>
          <p:cNvSpPr>
            <a:spLocks noGrp="1"/>
          </p:cNvSpPr>
          <p:nvPr/>
        </p:nvSpPr>
        <p:spPr>
          <a:xfrm>
            <a:off x="0" y="152400"/>
            <a:ext cx="12192000" cy="47625"/>
          </a:xfrm>
          <a:prstGeom prst="rect">
            <a:avLst/>
          </a:prstGeom>
          <a:solidFill>
            <a:srgbClr val="DA291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marker-2">
            <a:extLst>
              <a:ext uri="{FF2B5EF4-FFF2-40B4-BE49-F238E27FC236}">
                <a16:creationId xmlns:a16="http://schemas.microsoft.com/office/drawing/2014/main" id="{C62222D4-3059-4970-AEC7-387D76BE6BFF}"/>
              </a:ext>
            </a:extLst>
          </p:cNvPr>
          <p:cNvSpPr>
            <a:spLocks noGrp="1"/>
          </p:cNvSpPr>
          <p:nvPr/>
        </p:nvSpPr>
        <p:spPr>
          <a:xfrm>
            <a:off x="571500" y="457200"/>
            <a:ext cx="114300" cy="114300"/>
          </a:xfrm>
          <a:prstGeom prst="ellipse">
            <a:avLst/>
          </a:prstGeom>
          <a:solidFill>
            <a:srgbClr val="DA291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-2">
            <a:extLst>
              <a:ext uri="{FF2B5EF4-FFF2-40B4-BE49-F238E27FC236}">
                <a16:creationId xmlns:a16="http://schemas.microsoft.com/office/drawing/2014/main" id="{103E8437-80A4-4829-AE68-534A8B37FF4C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000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9F191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9F1914"/>
                </a:solidFill>
                <a:latin typeface="Aptos"/>
                <a:ea typeface="Aptos"/>
                <a:cs typeface="Aptos"/>
              </a:rPr>
              <a:t>PROJECT CONTEXT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42F860-A0E6-4F36-9355-2EFAF67D6229}"/>
              </a:ext>
            </a:extLst>
          </p:cNvPr>
          <p:cNvSpPr>
            <a:spLocks noGrp="1"/>
          </p:cNvSpPr>
          <p:nvPr/>
        </p:nvSpPr>
        <p:spPr>
          <a:xfrm>
            <a:off x="571500" y="742950"/>
            <a:ext cx="87630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241714"/>
                </a:solidFill>
                <a:latin typeface="Georgia"/>
                <a:ea typeface="Georgia"/>
                <a:cs typeface="Georgia"/>
              </a:defRPr>
            </a:pPr>
            <a:r>
              <a:rPr sz="2700" b="1">
                <a:solidFill>
                  <a:srgbClr val="241714"/>
                </a:solidFill>
                <a:latin typeface="Georgia"/>
                <a:ea typeface="Georgia"/>
                <a:cs typeface="Georgia"/>
              </a:rPr>
              <a:t>Manual event reservation creates avoidable friction.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DA26304-BF24-4E5A-832C-D3272A2FF8BC}"/>
              </a:ext>
            </a:extLst>
          </p:cNvPr>
          <p:cNvSpPr>
            <a:spLocks noGrp="1"/>
          </p:cNvSpPr>
          <p:nvPr/>
        </p:nvSpPr>
        <p:spPr>
          <a:xfrm>
            <a:off x="590550" y="1790700"/>
            <a:ext cx="72390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6A564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A5647"/>
                </a:solidFill>
                <a:latin typeface="Aptos"/>
                <a:ea typeface="Aptos"/>
                <a:cs typeface="Aptos"/>
              </a:rPr>
              <a:t>The study responds to scattered booking communication, unclear status updates, and limited branch-level monitoring.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00A7E16-F2D7-4453-B198-2AD99BE8D22E}"/>
              </a:ext>
            </a:extLst>
          </p:cNvPr>
          <p:cNvSpPr>
            <a:spLocks noGrp="1"/>
          </p:cNvSpPr>
          <p:nvPr/>
        </p:nvSpPr>
        <p:spPr>
          <a:xfrm>
            <a:off x="666750" y="2333625"/>
            <a:ext cx="4762500" cy="1104900"/>
          </a:xfrm>
          <a:prstGeom prst="roundRect">
            <a:avLst>
              <a:gd name="adj" fmla="val 6897"/>
            </a:avLst>
          </a:prstGeom>
          <a:solidFill>
            <a:srgbClr val="FFFDF8"/>
          </a:solidFill>
          <a:ln w="11430">
            <a:solidFill>
              <a:srgbClr val="E6D5B2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97743BF-7DA2-49B2-B9AD-63E87FEB3B98}"/>
              </a:ext>
            </a:extLst>
          </p:cNvPr>
          <p:cNvSpPr>
            <a:spLocks noGrp="1"/>
          </p:cNvSpPr>
          <p:nvPr/>
        </p:nvSpPr>
        <p:spPr>
          <a:xfrm>
            <a:off x="895350" y="2543175"/>
            <a:ext cx="2667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9F1914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9F1914"/>
                </a:solidFill>
                <a:latin typeface="Aptos"/>
                <a:ea typeface="Aptos"/>
                <a:cs typeface="Aptos"/>
              </a:rPr>
              <a:t>Scheduling conflict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B05FD5D-DBA0-4016-B36E-7E82C1470E17}"/>
              </a:ext>
            </a:extLst>
          </p:cNvPr>
          <p:cNvSpPr>
            <a:spLocks noGrp="1"/>
          </p:cNvSpPr>
          <p:nvPr/>
        </p:nvSpPr>
        <p:spPr>
          <a:xfrm>
            <a:off x="895350" y="2886075"/>
            <a:ext cx="4000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A564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A5647"/>
                </a:solidFill>
                <a:latin typeface="Aptos"/>
                <a:ea typeface="Aptos"/>
                <a:cs typeface="Aptos"/>
              </a:rPr>
              <a:t>Manual checking can lead to overlapping reservations or unclear availability.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1429712-E9C0-4214-98A4-F9F8D9EBC515}"/>
              </a:ext>
            </a:extLst>
          </p:cNvPr>
          <p:cNvSpPr>
            <a:spLocks noGrp="1"/>
          </p:cNvSpPr>
          <p:nvPr/>
        </p:nvSpPr>
        <p:spPr>
          <a:xfrm>
            <a:off x="6000750" y="2333625"/>
            <a:ext cx="4762500" cy="1104900"/>
          </a:xfrm>
          <a:prstGeom prst="roundRect">
            <a:avLst>
              <a:gd name="adj" fmla="val 6897"/>
            </a:avLst>
          </a:prstGeom>
          <a:solidFill>
            <a:srgbClr val="FFFDF8"/>
          </a:solidFill>
          <a:ln w="11430">
            <a:solidFill>
              <a:srgbClr val="E6D5B2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E20CF75-7707-4432-9294-0E975F9C5563}"/>
              </a:ext>
            </a:extLst>
          </p:cNvPr>
          <p:cNvSpPr>
            <a:spLocks noGrp="1"/>
          </p:cNvSpPr>
          <p:nvPr/>
        </p:nvSpPr>
        <p:spPr>
          <a:xfrm>
            <a:off x="6229350" y="2543175"/>
            <a:ext cx="2667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9F1914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9F1914"/>
                </a:solidFill>
                <a:latin typeface="Aptos"/>
                <a:ea typeface="Aptos"/>
                <a:cs typeface="Aptos"/>
              </a:rPr>
              <a:t>Incomplete records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D593F00-6E1B-4AFE-85E6-1453AD25354E}"/>
              </a:ext>
            </a:extLst>
          </p:cNvPr>
          <p:cNvSpPr>
            <a:spLocks noGrp="1"/>
          </p:cNvSpPr>
          <p:nvPr/>
        </p:nvSpPr>
        <p:spPr>
          <a:xfrm>
            <a:off x="6229350" y="2886075"/>
            <a:ext cx="4000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A564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A5647"/>
                </a:solidFill>
                <a:latin typeface="Aptos"/>
                <a:ea typeface="Aptos"/>
                <a:cs typeface="Aptos"/>
              </a:rPr>
              <a:t>Customer details, payment proof, menu choices, and notes can be separated across channels.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41A318C-CE5E-4724-AFC5-5BDE9C5309B6}"/>
              </a:ext>
            </a:extLst>
          </p:cNvPr>
          <p:cNvSpPr>
            <a:spLocks noGrp="1"/>
          </p:cNvSpPr>
          <p:nvPr/>
        </p:nvSpPr>
        <p:spPr>
          <a:xfrm>
            <a:off x="666750" y="3857625"/>
            <a:ext cx="4762500" cy="1104900"/>
          </a:xfrm>
          <a:prstGeom prst="roundRect">
            <a:avLst>
              <a:gd name="adj" fmla="val 6897"/>
            </a:avLst>
          </a:prstGeom>
          <a:solidFill>
            <a:srgbClr val="FFFDF8"/>
          </a:solidFill>
          <a:ln w="11430">
            <a:solidFill>
              <a:srgbClr val="E6D5B2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5339A22-1102-405A-A2D7-620C7BDB9849}"/>
              </a:ext>
            </a:extLst>
          </p:cNvPr>
          <p:cNvSpPr>
            <a:spLocks noGrp="1"/>
          </p:cNvSpPr>
          <p:nvPr/>
        </p:nvSpPr>
        <p:spPr>
          <a:xfrm>
            <a:off x="895350" y="4067175"/>
            <a:ext cx="2667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9F1914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9F1914"/>
                </a:solidFill>
                <a:latin typeface="Aptos"/>
                <a:ea typeface="Aptos"/>
                <a:cs typeface="Aptos"/>
              </a:rPr>
              <a:t>Slow confirmation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E0AB611-BFA4-4CDD-953F-8C5EE5DE9C9A}"/>
              </a:ext>
            </a:extLst>
          </p:cNvPr>
          <p:cNvSpPr>
            <a:spLocks noGrp="1"/>
          </p:cNvSpPr>
          <p:nvPr/>
        </p:nvSpPr>
        <p:spPr>
          <a:xfrm>
            <a:off x="895350" y="4410075"/>
            <a:ext cx="4000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A564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A5647"/>
                </a:solidFill>
                <a:latin typeface="Aptos"/>
                <a:ea typeface="Aptos"/>
                <a:cs typeface="Aptos"/>
              </a:rPr>
              <a:t>Customers must wait for updates while staff and admins manually coordinate.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3407B730-377A-4774-B0DD-C2341EFF33BF}"/>
              </a:ext>
            </a:extLst>
          </p:cNvPr>
          <p:cNvSpPr>
            <a:spLocks noGrp="1"/>
          </p:cNvSpPr>
          <p:nvPr/>
        </p:nvSpPr>
        <p:spPr>
          <a:xfrm>
            <a:off x="6000750" y="3857625"/>
            <a:ext cx="4762500" cy="1104900"/>
          </a:xfrm>
          <a:prstGeom prst="roundRect">
            <a:avLst>
              <a:gd name="adj" fmla="val 6897"/>
            </a:avLst>
          </a:prstGeom>
          <a:solidFill>
            <a:srgbClr val="FFFDF8"/>
          </a:solidFill>
          <a:ln w="11430">
            <a:solidFill>
              <a:srgbClr val="E6D5B2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9FD09F5-BF00-466B-B6CB-68AC84BD98B3}"/>
              </a:ext>
            </a:extLst>
          </p:cNvPr>
          <p:cNvSpPr>
            <a:spLocks noGrp="1"/>
          </p:cNvSpPr>
          <p:nvPr/>
        </p:nvSpPr>
        <p:spPr>
          <a:xfrm>
            <a:off x="6229350" y="4067175"/>
            <a:ext cx="2667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9F1914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9F1914"/>
                </a:solidFill>
                <a:latin typeface="Aptos"/>
                <a:ea typeface="Aptos"/>
                <a:cs typeface="Aptos"/>
              </a:rPr>
              <a:t>Limited monitoring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0F103D1-5DEA-4377-A225-A77805243FA6}"/>
              </a:ext>
            </a:extLst>
          </p:cNvPr>
          <p:cNvSpPr>
            <a:spLocks noGrp="1"/>
          </p:cNvSpPr>
          <p:nvPr/>
        </p:nvSpPr>
        <p:spPr>
          <a:xfrm>
            <a:off x="6229350" y="4410075"/>
            <a:ext cx="4000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A564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A5647"/>
                </a:solidFill>
                <a:latin typeface="Aptos"/>
                <a:ea typeface="Aptos"/>
                <a:cs typeface="Aptos"/>
              </a:rPr>
              <a:t>Managers lack a single dashboard for branch bookings, status, and reports.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AA90344-0983-47E3-B68F-6E0E5D840B2A}"/>
              </a:ext>
            </a:extLst>
          </p:cNvPr>
          <p:cNvSpPr>
            <a:spLocks noGrp="1"/>
          </p:cNvSpPr>
          <p:nvPr/>
        </p:nvSpPr>
        <p:spPr>
          <a:xfrm>
            <a:off x="8382000" y="4953000"/>
            <a:ext cx="1428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9F1914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9F1914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D127709-9717-4FC0-A8DE-725D42AEBE07}"/>
              </a:ext>
            </a:extLst>
          </p:cNvPr>
          <p:cNvSpPr>
            <a:spLocks noGrp="1"/>
          </p:cNvSpPr>
          <p:nvPr/>
        </p:nvSpPr>
        <p:spPr>
          <a:xfrm>
            <a:off x="8382000" y="5353050"/>
            <a:ext cx="1809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A564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A5647"/>
                </a:solidFill>
                <a:latin typeface="Aptos"/>
                <a:ea typeface="Aptos"/>
                <a:cs typeface="Aptos"/>
              </a:rPr>
              <a:t>primary user groups: customer, staff, admin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66B852F-C161-4C83-B31F-ADE242B6E701}"/>
              </a:ext>
            </a:extLst>
          </p:cNvPr>
          <p:cNvSpPr>
            <a:spLocks noGrp="1"/>
          </p:cNvSpPr>
          <p:nvPr/>
        </p:nvSpPr>
        <p:spPr>
          <a:xfrm>
            <a:off x="11287125" y="63246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A564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A5647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AFA0B29-73B8-436E-84EF-B4BDFFB61FE0}"/>
              </a:ext>
            </a:extLst>
          </p:cNvPr>
          <p:cNvSpPr>
            <a:spLocks noGrp="1"/>
          </p:cNvSpPr>
          <p:nvPr/>
        </p:nvSpPr>
        <p:spPr>
          <a:xfrm>
            <a:off x="571500" y="6448425"/>
            <a:ext cx="10287000" cy="9525"/>
          </a:xfrm>
          <a:prstGeom prst="rect">
            <a:avLst/>
          </a:prstGeom>
          <a:solidFill>
            <a:srgbClr val="E6D5B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326497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8B41207A-87DD-4BE4-AFA9-282CF78E083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8E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1237996-8C26-4671-9161-EC78FD02C23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FFC72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042E52E-C70E-418B-B07F-3415A2360CBF}"/>
              </a:ext>
            </a:extLst>
          </p:cNvPr>
          <p:cNvSpPr>
            <a:spLocks noGrp="1"/>
          </p:cNvSpPr>
          <p:nvPr/>
        </p:nvSpPr>
        <p:spPr>
          <a:xfrm>
            <a:off x="0" y="152400"/>
            <a:ext cx="12192000" cy="47625"/>
          </a:xfrm>
          <a:prstGeom prst="rect">
            <a:avLst/>
          </a:prstGeom>
          <a:solidFill>
            <a:srgbClr val="DA291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marker-3">
            <a:extLst>
              <a:ext uri="{FF2B5EF4-FFF2-40B4-BE49-F238E27FC236}">
                <a16:creationId xmlns:a16="http://schemas.microsoft.com/office/drawing/2014/main" id="{119E5A52-BEAC-422F-BA4F-1D52524402A3}"/>
              </a:ext>
            </a:extLst>
          </p:cNvPr>
          <p:cNvSpPr>
            <a:spLocks noGrp="1"/>
          </p:cNvSpPr>
          <p:nvPr/>
        </p:nvSpPr>
        <p:spPr>
          <a:xfrm>
            <a:off x="571500" y="457200"/>
            <a:ext cx="114300" cy="114300"/>
          </a:xfrm>
          <a:prstGeom prst="ellipse">
            <a:avLst/>
          </a:prstGeom>
          <a:solidFill>
            <a:srgbClr val="DA291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-3">
            <a:extLst>
              <a:ext uri="{FF2B5EF4-FFF2-40B4-BE49-F238E27FC236}">
                <a16:creationId xmlns:a16="http://schemas.microsoft.com/office/drawing/2014/main" id="{56B4B448-C401-46D2-972E-009F05276B67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000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9F191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9F1914"/>
                </a:solidFill>
                <a:latin typeface="Aptos"/>
                <a:ea typeface="Aptos"/>
                <a:cs typeface="Aptos"/>
              </a:rPr>
              <a:t>STUDY PURPOSE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EB3C2CF-2156-4536-AC3B-96D6E263E22D}"/>
              </a:ext>
            </a:extLst>
          </p:cNvPr>
          <p:cNvSpPr>
            <a:spLocks noGrp="1"/>
          </p:cNvSpPr>
          <p:nvPr/>
        </p:nvSpPr>
        <p:spPr>
          <a:xfrm>
            <a:off x="571500" y="742950"/>
            <a:ext cx="87630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241714"/>
                </a:solidFill>
                <a:latin typeface="Georgia"/>
                <a:ea typeface="Georgia"/>
                <a:cs typeface="Georgia"/>
              </a:defRPr>
            </a:pPr>
            <a:r>
              <a:rPr sz="2700" b="1">
                <a:solidFill>
                  <a:srgbClr val="241714"/>
                </a:solidFill>
                <a:latin typeface="Georgia"/>
                <a:ea typeface="Georgia"/>
                <a:cs typeface="Georgia"/>
              </a:rPr>
              <a:t>The capstone converts event booking into a connected digital workflow.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79E10C5-8E50-4883-866F-1DEF0643081E}"/>
              </a:ext>
            </a:extLst>
          </p:cNvPr>
          <p:cNvSpPr>
            <a:spLocks noGrp="1"/>
          </p:cNvSpPr>
          <p:nvPr/>
        </p:nvSpPr>
        <p:spPr>
          <a:xfrm>
            <a:off x="590550" y="1790700"/>
            <a:ext cx="72390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6A564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A5647"/>
                </a:solidFill>
                <a:latin typeface="Aptos"/>
                <a:ea typeface="Aptos"/>
                <a:cs typeface="Aptos"/>
              </a:rPr>
              <a:t>The system is scoped around reservation creation, admin review, staff operations, and mobile customer access.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70F85DB-C920-4CF1-88A3-D203EB30B56E}"/>
              </a:ext>
            </a:extLst>
          </p:cNvPr>
          <p:cNvSpPr>
            <a:spLocks noGrp="1"/>
          </p:cNvSpPr>
          <p:nvPr/>
        </p:nvSpPr>
        <p:spPr>
          <a:xfrm>
            <a:off x="857250" y="2409825"/>
            <a:ext cx="66675" cy="66675"/>
          </a:xfrm>
          <a:prstGeom prst="ellipse">
            <a:avLst/>
          </a:prstGeom>
          <a:solidFill>
            <a:srgbClr val="DA291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778CE72-E839-4C05-9F7C-8D107270763E}"/>
              </a:ext>
            </a:extLst>
          </p:cNvPr>
          <p:cNvSpPr>
            <a:spLocks noGrp="1"/>
          </p:cNvSpPr>
          <p:nvPr/>
        </p:nvSpPr>
        <p:spPr>
          <a:xfrm>
            <a:off x="1028700" y="2333625"/>
            <a:ext cx="61150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24171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41714"/>
                </a:solidFill>
                <a:latin typeface="Aptos"/>
                <a:ea typeface="Aptos"/>
                <a:cs typeface="Aptos"/>
              </a:rPr>
              <a:t>Develop a web-based event reservation management system.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3388CE2-DBD6-4F2B-82ED-9F3FB29C9AAD}"/>
              </a:ext>
            </a:extLst>
          </p:cNvPr>
          <p:cNvSpPr>
            <a:spLocks noGrp="1"/>
          </p:cNvSpPr>
          <p:nvPr/>
        </p:nvSpPr>
        <p:spPr>
          <a:xfrm>
            <a:off x="857250" y="3000375"/>
            <a:ext cx="66675" cy="66675"/>
          </a:xfrm>
          <a:prstGeom prst="ellipse">
            <a:avLst/>
          </a:prstGeom>
          <a:solidFill>
            <a:srgbClr val="DA291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E578FE0-B982-4505-BA6B-18D6D0BDC4BB}"/>
              </a:ext>
            </a:extLst>
          </p:cNvPr>
          <p:cNvSpPr>
            <a:spLocks noGrp="1"/>
          </p:cNvSpPr>
          <p:nvPr/>
        </p:nvSpPr>
        <p:spPr>
          <a:xfrm>
            <a:off x="1028700" y="2924175"/>
            <a:ext cx="61150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24171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41714"/>
                </a:solidFill>
                <a:latin typeface="Aptos"/>
                <a:ea typeface="Aptos"/>
                <a:cs typeface="Aptos"/>
              </a:rPr>
              <a:t>Create an Android mobile application for customer booking and tracking.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3EC4365-18EA-4CFB-A975-221A5055C1ED}"/>
              </a:ext>
            </a:extLst>
          </p:cNvPr>
          <p:cNvSpPr>
            <a:spLocks noGrp="1"/>
          </p:cNvSpPr>
          <p:nvPr/>
        </p:nvSpPr>
        <p:spPr>
          <a:xfrm>
            <a:off x="857250" y="3590925"/>
            <a:ext cx="66675" cy="66675"/>
          </a:xfrm>
          <a:prstGeom prst="ellipse">
            <a:avLst/>
          </a:prstGeom>
          <a:solidFill>
            <a:srgbClr val="DA291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2E5EFD1-5ACD-43A7-8F84-3913C5CAA855}"/>
              </a:ext>
            </a:extLst>
          </p:cNvPr>
          <p:cNvSpPr>
            <a:spLocks noGrp="1"/>
          </p:cNvSpPr>
          <p:nvPr/>
        </p:nvSpPr>
        <p:spPr>
          <a:xfrm>
            <a:off x="1028700" y="3514725"/>
            <a:ext cx="61150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24171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41714"/>
                </a:solidFill>
                <a:latin typeface="Aptos"/>
                <a:ea typeface="Aptos"/>
                <a:cs typeface="Aptos"/>
              </a:rPr>
              <a:t>Provide admin tools for approval, branch, catalog, reports, and accounts.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CDFEC08-5B8A-44C5-89E4-064EF514D778}"/>
              </a:ext>
            </a:extLst>
          </p:cNvPr>
          <p:cNvSpPr>
            <a:spLocks noGrp="1"/>
          </p:cNvSpPr>
          <p:nvPr/>
        </p:nvSpPr>
        <p:spPr>
          <a:xfrm>
            <a:off x="857250" y="4181475"/>
            <a:ext cx="66675" cy="66675"/>
          </a:xfrm>
          <a:prstGeom prst="ellipse">
            <a:avLst/>
          </a:prstGeom>
          <a:solidFill>
            <a:srgbClr val="DA291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F58B4DB-3AF0-45B9-AF10-C53D7B68CFA9}"/>
              </a:ext>
            </a:extLst>
          </p:cNvPr>
          <p:cNvSpPr>
            <a:spLocks noGrp="1"/>
          </p:cNvSpPr>
          <p:nvPr/>
        </p:nvSpPr>
        <p:spPr>
          <a:xfrm>
            <a:off x="1028700" y="4105275"/>
            <a:ext cx="61150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24171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41714"/>
                </a:solidFill>
                <a:latin typeface="Aptos"/>
                <a:ea typeface="Aptos"/>
                <a:cs typeface="Aptos"/>
              </a:rPr>
              <a:t>Support staff check-in and service status updates.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3EC619AE-4166-4140-92B9-CA06767E6144}"/>
              </a:ext>
            </a:extLst>
          </p:cNvPr>
          <p:cNvSpPr>
            <a:spLocks noGrp="1"/>
          </p:cNvSpPr>
          <p:nvPr/>
        </p:nvSpPr>
        <p:spPr>
          <a:xfrm>
            <a:off x="857250" y="4772025"/>
            <a:ext cx="66675" cy="66675"/>
          </a:xfrm>
          <a:prstGeom prst="ellipse">
            <a:avLst/>
          </a:prstGeom>
          <a:solidFill>
            <a:srgbClr val="DA291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3B4F778-113E-4093-93FA-279D8BF5EBA1}"/>
              </a:ext>
            </a:extLst>
          </p:cNvPr>
          <p:cNvSpPr>
            <a:spLocks noGrp="1"/>
          </p:cNvSpPr>
          <p:nvPr/>
        </p:nvSpPr>
        <p:spPr>
          <a:xfrm>
            <a:off x="1028700" y="4695825"/>
            <a:ext cx="61150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24171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41714"/>
                </a:solidFill>
                <a:latin typeface="Aptos"/>
                <a:ea typeface="Aptos"/>
                <a:cs typeface="Aptos"/>
              </a:rPr>
              <a:t>Evaluate the system using selected ISO 25010 quality criteria.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2C032640-37CC-4446-84B2-A571232396CD}"/>
              </a:ext>
            </a:extLst>
          </p:cNvPr>
          <p:cNvSpPr>
            <a:spLocks noGrp="1"/>
          </p:cNvSpPr>
          <p:nvPr/>
        </p:nvSpPr>
        <p:spPr>
          <a:xfrm>
            <a:off x="8001000" y="2343150"/>
            <a:ext cx="3048000" cy="2428875"/>
          </a:xfrm>
          <a:prstGeom prst="roundRect">
            <a:avLst>
              <a:gd name="adj" fmla="val 3137"/>
            </a:avLst>
          </a:prstGeom>
          <a:solidFill>
            <a:srgbClr val="FFF2C7"/>
          </a:solidFill>
          <a:ln w="11430">
            <a:solidFill>
              <a:srgbClr val="E6D5B2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B0B30D2-9F9E-4E9F-A171-549AA4FEBFC6}"/>
              </a:ext>
            </a:extLst>
          </p:cNvPr>
          <p:cNvSpPr>
            <a:spLocks noGrp="1"/>
          </p:cNvSpPr>
          <p:nvPr/>
        </p:nvSpPr>
        <p:spPr>
          <a:xfrm>
            <a:off x="8286750" y="2628900"/>
            <a:ext cx="1143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9F191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9F1914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4F98A12-2C77-4DFA-A960-2842566ED5DC}"/>
              </a:ext>
            </a:extLst>
          </p:cNvPr>
          <p:cNvSpPr>
            <a:spLocks noGrp="1"/>
          </p:cNvSpPr>
          <p:nvPr/>
        </p:nvSpPr>
        <p:spPr>
          <a:xfrm>
            <a:off x="8286750" y="3067050"/>
            <a:ext cx="2381250" cy="990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241714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241714"/>
                </a:solidFill>
                <a:latin typeface="Georgia"/>
                <a:ea typeface="Georgia"/>
                <a:cs typeface="Georgia"/>
              </a:rPr>
              <a:t>A Laravel web system plus Expo React Native Android app sharing one backend and database.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0794CFF-31D9-4804-8A46-53AE086894F3}"/>
              </a:ext>
            </a:extLst>
          </p:cNvPr>
          <p:cNvSpPr>
            <a:spLocks noGrp="1"/>
          </p:cNvSpPr>
          <p:nvPr/>
        </p:nvSpPr>
        <p:spPr>
          <a:xfrm>
            <a:off x="11287125" y="63246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A564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A5647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8F72157-8BD5-4D69-AE32-EB6507AE5B90}"/>
              </a:ext>
            </a:extLst>
          </p:cNvPr>
          <p:cNvSpPr>
            <a:spLocks noGrp="1"/>
          </p:cNvSpPr>
          <p:nvPr/>
        </p:nvSpPr>
        <p:spPr>
          <a:xfrm>
            <a:off x="571500" y="6448425"/>
            <a:ext cx="10287000" cy="9525"/>
          </a:xfrm>
          <a:prstGeom prst="rect">
            <a:avLst/>
          </a:prstGeom>
          <a:solidFill>
            <a:srgbClr val="E6D5B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3519892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F05AE533-58B2-43F1-9A62-49363E45BAE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8E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BCF8FBB-A77B-4A5D-B5A2-D6A1D320FE7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FFC72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BA889A7-3203-4D4C-AD13-39D9FEA431E6}"/>
              </a:ext>
            </a:extLst>
          </p:cNvPr>
          <p:cNvSpPr>
            <a:spLocks noGrp="1"/>
          </p:cNvSpPr>
          <p:nvPr/>
        </p:nvSpPr>
        <p:spPr>
          <a:xfrm>
            <a:off x="0" y="152400"/>
            <a:ext cx="12192000" cy="47625"/>
          </a:xfrm>
          <a:prstGeom prst="rect">
            <a:avLst/>
          </a:prstGeom>
          <a:solidFill>
            <a:srgbClr val="DA291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marker-4">
            <a:extLst>
              <a:ext uri="{FF2B5EF4-FFF2-40B4-BE49-F238E27FC236}">
                <a16:creationId xmlns:a16="http://schemas.microsoft.com/office/drawing/2014/main" id="{9B77419F-E701-4B7A-B62A-D07FB3C07454}"/>
              </a:ext>
            </a:extLst>
          </p:cNvPr>
          <p:cNvSpPr>
            <a:spLocks noGrp="1"/>
          </p:cNvSpPr>
          <p:nvPr/>
        </p:nvSpPr>
        <p:spPr>
          <a:xfrm>
            <a:off x="571500" y="457200"/>
            <a:ext cx="114300" cy="114300"/>
          </a:xfrm>
          <a:prstGeom prst="ellipse">
            <a:avLst/>
          </a:prstGeom>
          <a:solidFill>
            <a:srgbClr val="DA291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-4">
            <a:extLst>
              <a:ext uri="{FF2B5EF4-FFF2-40B4-BE49-F238E27FC236}">
                <a16:creationId xmlns:a16="http://schemas.microsoft.com/office/drawing/2014/main" id="{33AE19D4-B80B-45B6-906F-3596E998DB76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000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9F191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9F1914"/>
                </a:solidFill>
                <a:latin typeface="Aptos"/>
                <a:ea typeface="Aptos"/>
                <a:cs typeface="Aptos"/>
              </a:rPr>
              <a:t>LITERATURE GAP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50BE059-169F-448D-8975-B089D639DDB5}"/>
              </a:ext>
            </a:extLst>
          </p:cNvPr>
          <p:cNvSpPr>
            <a:spLocks noGrp="1"/>
          </p:cNvSpPr>
          <p:nvPr/>
        </p:nvSpPr>
        <p:spPr>
          <a:xfrm>
            <a:off x="571500" y="742950"/>
            <a:ext cx="87630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241714"/>
                </a:solidFill>
                <a:latin typeface="Georgia"/>
                <a:ea typeface="Georgia"/>
                <a:cs typeface="Georgia"/>
              </a:defRPr>
            </a:pPr>
            <a:r>
              <a:rPr sz="2700" b="1">
                <a:solidFill>
                  <a:srgbClr val="241714"/>
                </a:solidFill>
                <a:latin typeface="Georgia"/>
                <a:ea typeface="Georgia"/>
                <a:cs typeface="Georgia"/>
              </a:rPr>
              <a:t>Reservation systems are common, but fast-food event planning remains under-served.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D8CC4C4-2467-4F05-9010-1E1C0DA29198}"/>
              </a:ext>
            </a:extLst>
          </p:cNvPr>
          <p:cNvSpPr>
            <a:spLocks noGrp="1"/>
          </p:cNvSpPr>
          <p:nvPr/>
        </p:nvSpPr>
        <p:spPr>
          <a:xfrm>
            <a:off x="590550" y="1790700"/>
            <a:ext cx="72390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6A564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A5647"/>
                </a:solidFill>
                <a:latin typeface="Aptos"/>
                <a:ea typeface="Aptos"/>
                <a:cs typeface="Aptos"/>
              </a:rPr>
              <a:t>Local and foreign studies support automation, yet most focus on hotels, school facilities, table booking, or general event platforms.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2CD93ED-1A7C-4F0B-8554-633F72DEE1F5}"/>
              </a:ext>
            </a:extLst>
          </p:cNvPr>
          <p:cNvSpPr>
            <a:spLocks noGrp="1"/>
          </p:cNvSpPr>
          <p:nvPr/>
        </p:nvSpPr>
        <p:spPr>
          <a:xfrm>
            <a:off x="666750" y="2428875"/>
            <a:ext cx="3048000" cy="2381250"/>
          </a:xfrm>
          <a:prstGeom prst="roundRect">
            <a:avLst>
              <a:gd name="adj" fmla="val 3200"/>
            </a:avLst>
          </a:prstGeom>
          <a:solidFill>
            <a:srgbClr val="FFFDF8"/>
          </a:solidFill>
          <a:ln w="11430">
            <a:solidFill>
              <a:srgbClr val="E6D5B2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FC5D0DF-F5F7-47AB-84CA-09FE21EE647D}"/>
              </a:ext>
            </a:extLst>
          </p:cNvPr>
          <p:cNvSpPr>
            <a:spLocks noGrp="1"/>
          </p:cNvSpPr>
          <p:nvPr/>
        </p:nvSpPr>
        <p:spPr>
          <a:xfrm>
            <a:off x="876300" y="2647950"/>
            <a:ext cx="2381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24171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41714"/>
                </a:solidFill>
                <a:latin typeface="Aptos"/>
                <a:ea typeface="Aptos"/>
                <a:cs typeface="Aptos"/>
              </a:rPr>
              <a:t>Local studies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80DBB0F-4940-4C20-99EA-3B1FD602B051}"/>
              </a:ext>
            </a:extLst>
          </p:cNvPr>
          <p:cNvSpPr>
            <a:spLocks noGrp="1"/>
          </p:cNvSpPr>
          <p:nvPr/>
        </p:nvSpPr>
        <p:spPr>
          <a:xfrm>
            <a:off x="876300" y="3143250"/>
            <a:ext cx="2476500" cy="1104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6A564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A5647"/>
                </a:solidFill>
                <a:latin typeface="Aptos"/>
                <a:ea typeface="Aptos"/>
                <a:cs typeface="Aptos"/>
              </a:rPr>
              <a:t>Hotel reservation systems, facility reservations, MIS, centralized booking, mobile-compatible platforms.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9BE6D11-5EE5-4069-931F-3236DED1E3B5}"/>
              </a:ext>
            </a:extLst>
          </p:cNvPr>
          <p:cNvSpPr>
            <a:spLocks noGrp="1"/>
          </p:cNvSpPr>
          <p:nvPr/>
        </p:nvSpPr>
        <p:spPr>
          <a:xfrm>
            <a:off x="4286250" y="2428875"/>
            <a:ext cx="3048000" cy="2381250"/>
          </a:xfrm>
          <a:prstGeom prst="roundRect">
            <a:avLst>
              <a:gd name="adj" fmla="val 3200"/>
            </a:avLst>
          </a:prstGeom>
          <a:solidFill>
            <a:srgbClr val="FFFDF8"/>
          </a:solidFill>
          <a:ln w="11430">
            <a:solidFill>
              <a:srgbClr val="E6D5B2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06FFEF2-82E7-4F7C-AFC6-9A8B5C4EF870}"/>
              </a:ext>
            </a:extLst>
          </p:cNvPr>
          <p:cNvSpPr>
            <a:spLocks noGrp="1"/>
          </p:cNvSpPr>
          <p:nvPr/>
        </p:nvSpPr>
        <p:spPr>
          <a:xfrm>
            <a:off x="4495800" y="2647950"/>
            <a:ext cx="2381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24171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41714"/>
                </a:solidFill>
                <a:latin typeface="Aptos"/>
                <a:ea typeface="Aptos"/>
                <a:cs typeface="Aptos"/>
              </a:rPr>
              <a:t>Foreign studies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E4A4328-E2EE-404F-8B9F-DCAFD37BAEEC}"/>
              </a:ext>
            </a:extLst>
          </p:cNvPr>
          <p:cNvSpPr>
            <a:spLocks noGrp="1"/>
          </p:cNvSpPr>
          <p:nvPr/>
        </p:nvSpPr>
        <p:spPr>
          <a:xfrm>
            <a:off x="4495800" y="3143250"/>
            <a:ext cx="2476500" cy="1104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6A564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A5647"/>
                </a:solidFill>
                <a:latin typeface="Aptos"/>
                <a:ea typeface="Aptos"/>
                <a:cs typeface="Aptos"/>
              </a:rPr>
              <a:t>Online event booking, mobile hotel booking, restaurant table booking, catering reservations, restaurant automation.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46DB084-833A-4934-A69E-3A6D2464CEC5}"/>
              </a:ext>
            </a:extLst>
          </p:cNvPr>
          <p:cNvSpPr>
            <a:spLocks noGrp="1"/>
          </p:cNvSpPr>
          <p:nvPr/>
        </p:nvSpPr>
        <p:spPr>
          <a:xfrm>
            <a:off x="7905750" y="2428875"/>
            <a:ext cx="3048000" cy="2381250"/>
          </a:xfrm>
          <a:prstGeom prst="roundRect">
            <a:avLst>
              <a:gd name="adj" fmla="val 3200"/>
            </a:avLst>
          </a:prstGeom>
          <a:solidFill>
            <a:srgbClr val="FFE9A5"/>
          </a:solidFill>
          <a:ln w="11430">
            <a:solidFill>
              <a:srgbClr val="E6D5B2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B46A158-5FAD-4DC9-916D-79318B2BE4DE}"/>
              </a:ext>
            </a:extLst>
          </p:cNvPr>
          <p:cNvSpPr>
            <a:spLocks noGrp="1"/>
          </p:cNvSpPr>
          <p:nvPr/>
        </p:nvSpPr>
        <p:spPr>
          <a:xfrm>
            <a:off x="8115300" y="2647950"/>
            <a:ext cx="2381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9F191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9F1914"/>
                </a:solidFill>
                <a:latin typeface="Aptos"/>
                <a:ea typeface="Aptos"/>
                <a:cs typeface="Aptos"/>
              </a:rPr>
              <a:t>Gap addressed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8DE02F0-23B8-41AE-B4C5-A6F9AA78A328}"/>
              </a:ext>
            </a:extLst>
          </p:cNvPr>
          <p:cNvSpPr>
            <a:spLocks noGrp="1"/>
          </p:cNvSpPr>
          <p:nvPr/>
        </p:nvSpPr>
        <p:spPr>
          <a:xfrm>
            <a:off x="8115300" y="3143250"/>
            <a:ext cx="2476500" cy="1104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6A564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A5647"/>
                </a:solidFill>
                <a:latin typeface="Aptos"/>
                <a:ea typeface="Aptos"/>
                <a:cs typeface="Aptos"/>
              </a:rPr>
              <a:t>A fast-food event reservation system that links packages, branch capacity, payment proof, admin review, staff check-in, and Android access.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FE205AB-46F1-45EB-A8B3-BCB15ED9F4B0}"/>
              </a:ext>
            </a:extLst>
          </p:cNvPr>
          <p:cNvSpPr>
            <a:spLocks noGrp="1"/>
          </p:cNvSpPr>
          <p:nvPr/>
        </p:nvSpPr>
        <p:spPr>
          <a:xfrm>
            <a:off x="11287125" y="63246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A564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A5647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7FA9113-2908-4811-B71C-FF94DC4593E6}"/>
              </a:ext>
            </a:extLst>
          </p:cNvPr>
          <p:cNvSpPr>
            <a:spLocks noGrp="1"/>
          </p:cNvSpPr>
          <p:nvPr/>
        </p:nvSpPr>
        <p:spPr>
          <a:xfrm>
            <a:off x="571500" y="6448425"/>
            <a:ext cx="10287000" cy="9525"/>
          </a:xfrm>
          <a:prstGeom prst="rect">
            <a:avLst/>
          </a:prstGeom>
          <a:solidFill>
            <a:srgbClr val="E6D5B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5136212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34D40300-4050-402F-9762-22986C5B0E48}"/>
              </a:ext>
            </a:extLst>
          </p:cNvPr>
          <p:cNvSpPr>
            <a:spLocks noGrp="1"/>
          </p:cNvSpPr>
          <p:nvPr/>
        </p:nvSpPr>
        <p:spPr>
          <a:xfrm>
            <a:off x="-93133" y="0"/>
            <a:ext cx="12192000" cy="6858000"/>
          </a:xfrm>
          <a:prstGeom prst="rect">
            <a:avLst/>
          </a:prstGeom>
          <a:solidFill>
            <a:srgbClr val="FFF8E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5812A26-175D-4B50-880B-6B48FBC1974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FFC72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E368DAE-51AC-4DD9-A5FA-0C222BD87CC7}"/>
              </a:ext>
            </a:extLst>
          </p:cNvPr>
          <p:cNvSpPr>
            <a:spLocks noGrp="1"/>
          </p:cNvSpPr>
          <p:nvPr/>
        </p:nvSpPr>
        <p:spPr>
          <a:xfrm>
            <a:off x="0" y="152400"/>
            <a:ext cx="12192000" cy="47625"/>
          </a:xfrm>
          <a:prstGeom prst="rect">
            <a:avLst/>
          </a:prstGeom>
          <a:solidFill>
            <a:srgbClr val="DA291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marker-5">
            <a:extLst>
              <a:ext uri="{FF2B5EF4-FFF2-40B4-BE49-F238E27FC236}">
                <a16:creationId xmlns:a16="http://schemas.microsoft.com/office/drawing/2014/main" id="{1CC6C375-D92A-4E88-9D44-66401F9E61F4}"/>
              </a:ext>
            </a:extLst>
          </p:cNvPr>
          <p:cNvSpPr>
            <a:spLocks noGrp="1"/>
          </p:cNvSpPr>
          <p:nvPr/>
        </p:nvSpPr>
        <p:spPr>
          <a:xfrm>
            <a:off x="571500" y="457200"/>
            <a:ext cx="114300" cy="114300"/>
          </a:xfrm>
          <a:prstGeom prst="ellipse">
            <a:avLst/>
          </a:prstGeom>
          <a:solidFill>
            <a:srgbClr val="DA291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-5">
            <a:extLst>
              <a:ext uri="{FF2B5EF4-FFF2-40B4-BE49-F238E27FC236}">
                <a16:creationId xmlns:a16="http://schemas.microsoft.com/office/drawing/2014/main" id="{89FAB58E-019D-40DB-BBA3-30C14AE9955F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000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9F191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9F1914"/>
                </a:solidFill>
                <a:latin typeface="Aptos"/>
                <a:ea typeface="Aptos"/>
                <a:cs typeface="Aptos"/>
              </a:rPr>
              <a:t>METHODOLOGY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5972AF4-9065-4CB6-9336-516E800496B5}"/>
              </a:ext>
            </a:extLst>
          </p:cNvPr>
          <p:cNvSpPr>
            <a:spLocks noGrp="1"/>
          </p:cNvSpPr>
          <p:nvPr/>
        </p:nvSpPr>
        <p:spPr>
          <a:xfrm>
            <a:off x="571500" y="742950"/>
            <a:ext cx="87630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241714"/>
                </a:solidFill>
                <a:latin typeface="Georgia"/>
                <a:ea typeface="Georgia"/>
                <a:cs typeface="Georgia"/>
              </a:defRPr>
            </a:pPr>
            <a:r>
              <a:rPr sz="2700" b="1">
                <a:solidFill>
                  <a:srgbClr val="241714"/>
                </a:solidFill>
                <a:latin typeface="Georgia"/>
                <a:ea typeface="Georgia"/>
                <a:cs typeface="Georgia"/>
              </a:rPr>
              <a:t>RAD fit the project because the workflow needed visible prototypes and quick feedback.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347A8D3-A1CE-4A1A-95F7-E4AF4659244C}"/>
              </a:ext>
            </a:extLst>
          </p:cNvPr>
          <p:cNvSpPr>
            <a:spLocks noGrp="1"/>
          </p:cNvSpPr>
          <p:nvPr/>
        </p:nvSpPr>
        <p:spPr>
          <a:xfrm>
            <a:off x="590550" y="1790700"/>
            <a:ext cx="72390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6A564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A5647"/>
                </a:solidFill>
                <a:latin typeface="Aptos"/>
                <a:ea typeface="Aptos"/>
                <a:cs typeface="Aptos"/>
              </a:rPr>
              <a:t>The project used Systems Analysis and Design concepts across planning, prototyping, feedback, finalization, and evaluation.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C7154E3-B8CA-4C69-B1B4-D082FFD1705B}"/>
              </a:ext>
            </a:extLst>
          </p:cNvPr>
          <p:cNvSpPr>
            <a:spLocks noGrp="1"/>
          </p:cNvSpPr>
          <p:nvPr/>
        </p:nvSpPr>
        <p:spPr>
          <a:xfrm>
            <a:off x="666750" y="2476500"/>
            <a:ext cx="1714500" cy="1428750"/>
          </a:xfrm>
          <a:prstGeom prst="roundRect">
            <a:avLst>
              <a:gd name="adj" fmla="val 5333"/>
            </a:avLst>
          </a:prstGeom>
          <a:solidFill>
            <a:srgbClr val="FFFDF8"/>
          </a:solidFill>
          <a:ln w="11430">
            <a:solidFill>
              <a:srgbClr val="E6D5B2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E23F4F9-A779-4585-83D5-BC4638347128}"/>
              </a:ext>
            </a:extLst>
          </p:cNvPr>
          <p:cNvSpPr>
            <a:spLocks noGrp="1"/>
          </p:cNvSpPr>
          <p:nvPr/>
        </p:nvSpPr>
        <p:spPr>
          <a:xfrm>
            <a:off x="838200" y="2647950"/>
            <a:ext cx="381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DA291C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DA291C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5719604-F253-40BF-BA59-00C103E9E0BF}"/>
              </a:ext>
            </a:extLst>
          </p:cNvPr>
          <p:cNvSpPr>
            <a:spLocks noGrp="1"/>
          </p:cNvSpPr>
          <p:nvPr/>
        </p:nvSpPr>
        <p:spPr>
          <a:xfrm>
            <a:off x="838200" y="3028950"/>
            <a:ext cx="13525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24171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41714"/>
                </a:solidFill>
                <a:latin typeface="Aptos"/>
                <a:ea typeface="Aptos"/>
                <a:cs typeface="Aptos"/>
              </a:rPr>
              <a:t>Planning Requirements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A2033FB-0BA2-4EF2-BFC3-CA519D32395F}"/>
              </a:ext>
            </a:extLst>
          </p:cNvPr>
          <p:cNvSpPr>
            <a:spLocks noGrp="1"/>
          </p:cNvSpPr>
          <p:nvPr/>
        </p:nvSpPr>
        <p:spPr>
          <a:xfrm>
            <a:off x="838200" y="3505200"/>
            <a:ext cx="1333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A564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A5647"/>
                </a:solidFill>
                <a:latin typeface="Aptos"/>
                <a:ea typeface="Aptos"/>
                <a:cs typeface="Aptos"/>
              </a:rPr>
              <a:t>Identify users, scope, features, and constraints.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D1F8C5-A428-4097-9148-E7A8939A8185}"/>
              </a:ext>
            </a:extLst>
          </p:cNvPr>
          <p:cNvSpPr>
            <a:spLocks noGrp="1"/>
          </p:cNvSpPr>
          <p:nvPr/>
        </p:nvSpPr>
        <p:spPr>
          <a:xfrm>
            <a:off x="2409825" y="3171825"/>
            <a:ext cx="304800" cy="38100"/>
          </a:xfrm>
          <a:prstGeom prst="rect">
            <a:avLst/>
          </a:prstGeom>
          <a:solidFill>
            <a:srgbClr val="DA291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CEF86923-F920-4B9B-B979-8616A7494E0F}"/>
              </a:ext>
            </a:extLst>
          </p:cNvPr>
          <p:cNvSpPr>
            <a:spLocks noGrp="1"/>
          </p:cNvSpPr>
          <p:nvPr/>
        </p:nvSpPr>
        <p:spPr>
          <a:xfrm rot="19801539">
            <a:off x="2619375" y="3114675"/>
            <a:ext cx="152400" cy="152400"/>
          </a:xfrm>
          <a:prstGeom prst="triangle">
            <a:avLst/>
          </a:prstGeom>
          <a:solidFill>
            <a:srgbClr val="DA291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DF6F92A-A307-41CC-BC6E-B10E247B21E3}"/>
              </a:ext>
            </a:extLst>
          </p:cNvPr>
          <p:cNvSpPr>
            <a:spLocks noGrp="1"/>
          </p:cNvSpPr>
          <p:nvPr/>
        </p:nvSpPr>
        <p:spPr>
          <a:xfrm>
            <a:off x="2800350" y="2476500"/>
            <a:ext cx="1714500" cy="1428750"/>
          </a:xfrm>
          <a:prstGeom prst="roundRect">
            <a:avLst>
              <a:gd name="adj" fmla="val 5333"/>
            </a:avLst>
          </a:prstGeom>
          <a:solidFill>
            <a:srgbClr val="FFFDF8"/>
          </a:solidFill>
          <a:ln w="11430">
            <a:solidFill>
              <a:srgbClr val="E6D5B2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E0AA5EB-3818-4731-8055-6D93835DBA74}"/>
              </a:ext>
            </a:extLst>
          </p:cNvPr>
          <p:cNvSpPr>
            <a:spLocks noGrp="1"/>
          </p:cNvSpPr>
          <p:nvPr/>
        </p:nvSpPr>
        <p:spPr>
          <a:xfrm>
            <a:off x="2971800" y="2647950"/>
            <a:ext cx="381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DA291C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DA291C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C4BB9FF-5E0F-4999-94DB-67954E024343}"/>
              </a:ext>
            </a:extLst>
          </p:cNvPr>
          <p:cNvSpPr>
            <a:spLocks noGrp="1"/>
          </p:cNvSpPr>
          <p:nvPr/>
        </p:nvSpPr>
        <p:spPr>
          <a:xfrm>
            <a:off x="2971800" y="3028950"/>
            <a:ext cx="13525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24171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41714"/>
                </a:solidFill>
                <a:latin typeface="Aptos"/>
                <a:ea typeface="Aptos"/>
                <a:cs typeface="Aptos"/>
              </a:rPr>
              <a:t>Prototype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47461F2-968A-4DC8-90A1-7C155A30769D}"/>
              </a:ext>
            </a:extLst>
          </p:cNvPr>
          <p:cNvSpPr>
            <a:spLocks noGrp="1"/>
          </p:cNvSpPr>
          <p:nvPr/>
        </p:nvSpPr>
        <p:spPr>
          <a:xfrm>
            <a:off x="2971800" y="3505200"/>
            <a:ext cx="1333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A564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A5647"/>
                </a:solidFill>
                <a:latin typeface="Aptos"/>
                <a:ea typeface="Aptos"/>
                <a:cs typeface="Aptos"/>
              </a:rPr>
              <a:t>Prepare Figma/mobile-first screens and flows.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4BEE828-AE5B-46FA-BA75-B167376B7E03}"/>
              </a:ext>
            </a:extLst>
          </p:cNvPr>
          <p:cNvSpPr>
            <a:spLocks noGrp="1"/>
          </p:cNvSpPr>
          <p:nvPr/>
        </p:nvSpPr>
        <p:spPr>
          <a:xfrm>
            <a:off x="4543425" y="3171825"/>
            <a:ext cx="304800" cy="38100"/>
          </a:xfrm>
          <a:prstGeom prst="rect">
            <a:avLst/>
          </a:prstGeom>
          <a:solidFill>
            <a:srgbClr val="DA291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603650DF-C53C-4204-8854-0719AC98A52C}"/>
              </a:ext>
            </a:extLst>
          </p:cNvPr>
          <p:cNvSpPr>
            <a:spLocks noGrp="1"/>
          </p:cNvSpPr>
          <p:nvPr/>
        </p:nvSpPr>
        <p:spPr>
          <a:xfrm>
            <a:off x="4752975" y="3114675"/>
            <a:ext cx="152400" cy="152400"/>
          </a:xfrm>
          <a:prstGeom prst="triangle">
            <a:avLst/>
          </a:prstGeom>
          <a:solidFill>
            <a:srgbClr val="DA291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A86C3A86-5E15-4FF4-BD53-AF9DB6BEE27C}"/>
              </a:ext>
            </a:extLst>
          </p:cNvPr>
          <p:cNvSpPr>
            <a:spLocks noGrp="1"/>
          </p:cNvSpPr>
          <p:nvPr/>
        </p:nvSpPr>
        <p:spPr>
          <a:xfrm>
            <a:off x="4933950" y="2476500"/>
            <a:ext cx="1714500" cy="1428750"/>
          </a:xfrm>
          <a:prstGeom prst="roundRect">
            <a:avLst>
              <a:gd name="adj" fmla="val 5333"/>
            </a:avLst>
          </a:prstGeom>
          <a:solidFill>
            <a:srgbClr val="FFFDF8"/>
          </a:solidFill>
          <a:ln w="11430">
            <a:solidFill>
              <a:srgbClr val="E6D5B2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32FA469-B310-401A-B2E9-5B18E7E9514E}"/>
              </a:ext>
            </a:extLst>
          </p:cNvPr>
          <p:cNvSpPr>
            <a:spLocks noGrp="1"/>
          </p:cNvSpPr>
          <p:nvPr/>
        </p:nvSpPr>
        <p:spPr>
          <a:xfrm>
            <a:off x="5105400" y="2647950"/>
            <a:ext cx="381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DA291C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DA291C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AF623E7-3BF8-48FC-A860-F678AFCBC9A3}"/>
              </a:ext>
            </a:extLst>
          </p:cNvPr>
          <p:cNvSpPr>
            <a:spLocks noGrp="1"/>
          </p:cNvSpPr>
          <p:nvPr/>
        </p:nvSpPr>
        <p:spPr>
          <a:xfrm>
            <a:off x="5105400" y="3028950"/>
            <a:ext cx="13525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24171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41714"/>
                </a:solidFill>
                <a:latin typeface="Aptos"/>
                <a:ea typeface="Aptos"/>
                <a:cs typeface="Aptos"/>
              </a:rPr>
              <a:t>Receive Feedback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C9951F4-8CF1-4936-95A3-7C25C2DB3E44}"/>
              </a:ext>
            </a:extLst>
          </p:cNvPr>
          <p:cNvSpPr>
            <a:spLocks noGrp="1"/>
          </p:cNvSpPr>
          <p:nvPr/>
        </p:nvSpPr>
        <p:spPr>
          <a:xfrm>
            <a:off x="5105400" y="3505200"/>
            <a:ext cx="1333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A564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A5647"/>
                </a:solidFill>
                <a:latin typeface="Aptos"/>
                <a:ea typeface="Aptos"/>
                <a:cs typeface="Aptos"/>
              </a:rPr>
              <a:t>Review usability, booking steps, and admin needs.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9530D96-3602-427B-A5B5-76416C34713E}"/>
              </a:ext>
            </a:extLst>
          </p:cNvPr>
          <p:cNvSpPr>
            <a:spLocks noGrp="1"/>
          </p:cNvSpPr>
          <p:nvPr/>
        </p:nvSpPr>
        <p:spPr>
          <a:xfrm>
            <a:off x="6677025" y="3171825"/>
            <a:ext cx="304800" cy="38100"/>
          </a:xfrm>
          <a:prstGeom prst="rect">
            <a:avLst/>
          </a:prstGeom>
          <a:solidFill>
            <a:srgbClr val="DA291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Isosceles Triangle 24">
            <a:extLst>
              <a:ext uri="{FF2B5EF4-FFF2-40B4-BE49-F238E27FC236}">
                <a16:creationId xmlns:a16="http://schemas.microsoft.com/office/drawing/2014/main" id="{C69E3E38-3898-4E6E-A12F-0369D704F8CD}"/>
              </a:ext>
            </a:extLst>
          </p:cNvPr>
          <p:cNvSpPr>
            <a:spLocks noGrp="1"/>
          </p:cNvSpPr>
          <p:nvPr/>
        </p:nvSpPr>
        <p:spPr>
          <a:xfrm>
            <a:off x="6886575" y="3114675"/>
            <a:ext cx="152400" cy="152400"/>
          </a:xfrm>
          <a:prstGeom prst="triangle">
            <a:avLst/>
          </a:prstGeom>
          <a:solidFill>
            <a:srgbClr val="DA291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66F6D368-1E76-4AAD-82F5-83323CC04263}"/>
              </a:ext>
            </a:extLst>
          </p:cNvPr>
          <p:cNvSpPr>
            <a:spLocks noGrp="1"/>
          </p:cNvSpPr>
          <p:nvPr/>
        </p:nvSpPr>
        <p:spPr>
          <a:xfrm>
            <a:off x="7067550" y="2476500"/>
            <a:ext cx="1714500" cy="1428750"/>
          </a:xfrm>
          <a:prstGeom prst="roundRect">
            <a:avLst>
              <a:gd name="adj" fmla="val 5333"/>
            </a:avLst>
          </a:prstGeom>
          <a:solidFill>
            <a:srgbClr val="FFFDF8"/>
          </a:solidFill>
          <a:ln w="11430">
            <a:solidFill>
              <a:srgbClr val="E6D5B2"/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0D2865E-AC33-416A-9308-449EB8854E04}"/>
              </a:ext>
            </a:extLst>
          </p:cNvPr>
          <p:cNvSpPr>
            <a:spLocks noGrp="1"/>
          </p:cNvSpPr>
          <p:nvPr/>
        </p:nvSpPr>
        <p:spPr>
          <a:xfrm>
            <a:off x="7239000" y="2647950"/>
            <a:ext cx="381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DA291C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DA291C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667703E-29ED-4C46-B481-FCC08CE4CB03}"/>
              </a:ext>
            </a:extLst>
          </p:cNvPr>
          <p:cNvSpPr>
            <a:spLocks noGrp="1"/>
          </p:cNvSpPr>
          <p:nvPr/>
        </p:nvSpPr>
        <p:spPr>
          <a:xfrm>
            <a:off x="7239000" y="3028950"/>
            <a:ext cx="13525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24171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41714"/>
                </a:solidFill>
                <a:latin typeface="Aptos"/>
                <a:ea typeface="Aptos"/>
                <a:cs typeface="Aptos"/>
              </a:rPr>
              <a:t>Finalize Software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8742D6B-7569-4AD4-BB8C-04FB704AEB6F}"/>
              </a:ext>
            </a:extLst>
          </p:cNvPr>
          <p:cNvSpPr>
            <a:spLocks noGrp="1"/>
          </p:cNvSpPr>
          <p:nvPr/>
        </p:nvSpPr>
        <p:spPr>
          <a:xfrm>
            <a:off x="7239000" y="3505200"/>
            <a:ext cx="1333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A564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A5647"/>
                </a:solidFill>
                <a:latin typeface="Aptos"/>
                <a:ea typeface="Aptos"/>
                <a:cs typeface="Aptos"/>
              </a:rPr>
              <a:t>Develop Laravel, Vue/Inertia, Expo, API, and database.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65C556A-7244-4845-A7C8-8898E1E1A586}"/>
              </a:ext>
            </a:extLst>
          </p:cNvPr>
          <p:cNvSpPr>
            <a:spLocks noGrp="1"/>
          </p:cNvSpPr>
          <p:nvPr/>
        </p:nvSpPr>
        <p:spPr>
          <a:xfrm>
            <a:off x="8810625" y="3171825"/>
            <a:ext cx="304800" cy="38100"/>
          </a:xfrm>
          <a:prstGeom prst="rect">
            <a:avLst/>
          </a:prstGeom>
          <a:solidFill>
            <a:srgbClr val="DA291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Isosceles Triangle 30">
            <a:extLst>
              <a:ext uri="{FF2B5EF4-FFF2-40B4-BE49-F238E27FC236}">
                <a16:creationId xmlns:a16="http://schemas.microsoft.com/office/drawing/2014/main" id="{3AFA1E31-E937-4AD2-9065-C6888985B6C2}"/>
              </a:ext>
            </a:extLst>
          </p:cNvPr>
          <p:cNvSpPr>
            <a:spLocks noGrp="1"/>
          </p:cNvSpPr>
          <p:nvPr/>
        </p:nvSpPr>
        <p:spPr>
          <a:xfrm>
            <a:off x="9020175" y="3114675"/>
            <a:ext cx="152400" cy="152400"/>
          </a:xfrm>
          <a:prstGeom prst="triangle">
            <a:avLst/>
          </a:prstGeom>
          <a:solidFill>
            <a:srgbClr val="DA291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C19F05C1-368A-4D46-BE0E-B2BDE2E1342F}"/>
              </a:ext>
            </a:extLst>
          </p:cNvPr>
          <p:cNvSpPr>
            <a:spLocks noGrp="1"/>
          </p:cNvSpPr>
          <p:nvPr/>
        </p:nvSpPr>
        <p:spPr>
          <a:xfrm>
            <a:off x="9201150" y="2476500"/>
            <a:ext cx="1714500" cy="1428750"/>
          </a:xfrm>
          <a:prstGeom prst="roundRect">
            <a:avLst>
              <a:gd name="adj" fmla="val 5333"/>
            </a:avLst>
          </a:prstGeom>
          <a:solidFill>
            <a:srgbClr val="FFF2C7"/>
          </a:solidFill>
          <a:ln w="11430">
            <a:solidFill>
              <a:srgbClr val="E6D5B2"/>
            </a:solidFill>
            <a:prstDash val="solid"/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2008A1C-AB03-4CC9-8178-2AD74A77BD33}"/>
              </a:ext>
            </a:extLst>
          </p:cNvPr>
          <p:cNvSpPr>
            <a:spLocks noGrp="1"/>
          </p:cNvSpPr>
          <p:nvPr/>
        </p:nvSpPr>
        <p:spPr>
          <a:xfrm>
            <a:off x="9372600" y="2647950"/>
            <a:ext cx="381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DA291C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DA291C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3CDB0F1-53C3-4103-9773-BF21F465F4A6}"/>
              </a:ext>
            </a:extLst>
          </p:cNvPr>
          <p:cNvSpPr>
            <a:spLocks noGrp="1"/>
          </p:cNvSpPr>
          <p:nvPr/>
        </p:nvSpPr>
        <p:spPr>
          <a:xfrm>
            <a:off x="9372600" y="3028950"/>
            <a:ext cx="13525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24171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41714"/>
                </a:solidFill>
                <a:latin typeface="Aptos"/>
                <a:ea typeface="Aptos"/>
                <a:cs typeface="Aptos"/>
              </a:rPr>
              <a:t>Evaluate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1CA4064-8635-4C58-9566-507EC8E924DD}"/>
              </a:ext>
            </a:extLst>
          </p:cNvPr>
          <p:cNvSpPr>
            <a:spLocks noGrp="1"/>
          </p:cNvSpPr>
          <p:nvPr/>
        </p:nvSpPr>
        <p:spPr>
          <a:xfrm>
            <a:off x="9372600" y="3505200"/>
            <a:ext cx="1333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A564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A5647"/>
                </a:solidFill>
                <a:latin typeface="Aptos"/>
                <a:ea typeface="Aptos"/>
                <a:cs typeface="Aptos"/>
              </a:rPr>
              <a:t>Assess functionality, usability, reliability, performance, security.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77F7CA5-A395-4009-9603-C9AE64BE4EB1}"/>
              </a:ext>
            </a:extLst>
          </p:cNvPr>
          <p:cNvSpPr>
            <a:spLocks noGrp="1"/>
          </p:cNvSpPr>
          <p:nvPr/>
        </p:nvSpPr>
        <p:spPr>
          <a:xfrm>
            <a:off x="11287125" y="63246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A564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A5647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B54688A-F2DD-4506-A22F-C2ADBA76024F}"/>
              </a:ext>
            </a:extLst>
          </p:cNvPr>
          <p:cNvSpPr>
            <a:spLocks noGrp="1"/>
          </p:cNvSpPr>
          <p:nvPr/>
        </p:nvSpPr>
        <p:spPr>
          <a:xfrm>
            <a:off x="571500" y="6448425"/>
            <a:ext cx="10287000" cy="9525"/>
          </a:xfrm>
          <a:prstGeom prst="rect">
            <a:avLst/>
          </a:prstGeom>
          <a:solidFill>
            <a:srgbClr val="E6D5B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8121357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extLst>
              <a:ext uri="{FF2B5EF4-FFF2-40B4-BE49-F238E27FC236}">
                <a16:creationId xmlns:a16="http://schemas.microsoft.com/office/drawing/2014/main" id="{8DCE930A-D219-4BD1-9146-0C6051EFD2E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8E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C83DE5E-8BC4-448F-9AED-DF063904975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FFC72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B721BBD-5CAA-4417-B47A-B640644292A6}"/>
              </a:ext>
            </a:extLst>
          </p:cNvPr>
          <p:cNvSpPr>
            <a:spLocks noGrp="1"/>
          </p:cNvSpPr>
          <p:nvPr/>
        </p:nvSpPr>
        <p:spPr>
          <a:xfrm>
            <a:off x="0" y="152400"/>
            <a:ext cx="12192000" cy="47625"/>
          </a:xfrm>
          <a:prstGeom prst="rect">
            <a:avLst/>
          </a:prstGeom>
          <a:solidFill>
            <a:srgbClr val="DA291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marker-6">
            <a:extLst>
              <a:ext uri="{FF2B5EF4-FFF2-40B4-BE49-F238E27FC236}">
                <a16:creationId xmlns:a16="http://schemas.microsoft.com/office/drawing/2014/main" id="{A25B3999-F027-44A1-827A-C2ECB3FEE35A}"/>
              </a:ext>
            </a:extLst>
          </p:cNvPr>
          <p:cNvSpPr>
            <a:spLocks noGrp="1"/>
          </p:cNvSpPr>
          <p:nvPr/>
        </p:nvSpPr>
        <p:spPr>
          <a:xfrm>
            <a:off x="571500" y="457200"/>
            <a:ext cx="114300" cy="114300"/>
          </a:xfrm>
          <a:prstGeom prst="ellipse">
            <a:avLst/>
          </a:prstGeom>
          <a:solidFill>
            <a:srgbClr val="DA291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-6">
            <a:extLst>
              <a:ext uri="{FF2B5EF4-FFF2-40B4-BE49-F238E27FC236}">
                <a16:creationId xmlns:a16="http://schemas.microsoft.com/office/drawing/2014/main" id="{A48E768C-B479-407A-835F-9358ACCBFF0F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000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9F191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9F1914"/>
                </a:solidFill>
                <a:latin typeface="Aptos"/>
                <a:ea typeface="Aptos"/>
                <a:cs typeface="Aptos"/>
              </a:rPr>
              <a:t>SYSTEM ARCHITECTURE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37A5E17-351E-4C64-8F63-A288E4791030}"/>
              </a:ext>
            </a:extLst>
          </p:cNvPr>
          <p:cNvSpPr>
            <a:spLocks noGrp="1"/>
          </p:cNvSpPr>
          <p:nvPr/>
        </p:nvSpPr>
        <p:spPr>
          <a:xfrm>
            <a:off x="571500" y="742950"/>
            <a:ext cx="87630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241714"/>
                </a:solidFill>
                <a:latin typeface="Georgia"/>
                <a:ea typeface="Georgia"/>
                <a:cs typeface="Georgia"/>
              </a:defRPr>
            </a:pPr>
            <a:r>
              <a:rPr sz="2700" b="1">
                <a:solidFill>
                  <a:srgbClr val="241714"/>
                </a:solidFill>
                <a:latin typeface="Georgia"/>
                <a:ea typeface="Georgia"/>
                <a:cs typeface="Georgia"/>
              </a:rPr>
              <a:t>One backend keeps web, mobile, staff, and admin views consistent.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B901F97-4B58-48C1-B5F8-B6E6881E7F8D}"/>
              </a:ext>
            </a:extLst>
          </p:cNvPr>
          <p:cNvSpPr>
            <a:spLocks noGrp="1"/>
          </p:cNvSpPr>
          <p:nvPr/>
        </p:nvSpPr>
        <p:spPr>
          <a:xfrm>
            <a:off x="590550" y="1790700"/>
            <a:ext cx="72390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6A564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A5647"/>
                </a:solidFill>
                <a:latin typeface="Aptos"/>
                <a:ea typeface="Aptos"/>
                <a:cs typeface="Aptos"/>
              </a:rPr>
              <a:t>Both the web app and Android app connect to Laravel APIs, which enforce authentication, validation, booking rules, and database transactions.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72396CF-31BF-4FDD-A6A2-4FEE46CB6C57}"/>
              </a:ext>
            </a:extLst>
          </p:cNvPr>
          <p:cNvSpPr>
            <a:spLocks noGrp="1"/>
          </p:cNvSpPr>
          <p:nvPr/>
        </p:nvSpPr>
        <p:spPr>
          <a:xfrm>
            <a:off x="857250" y="2476500"/>
            <a:ext cx="2000250" cy="819150"/>
          </a:xfrm>
          <a:prstGeom prst="roundRect">
            <a:avLst>
              <a:gd name="adj" fmla="val 9302"/>
            </a:avLst>
          </a:prstGeom>
          <a:solidFill>
            <a:srgbClr val="FFFDF8"/>
          </a:solidFill>
          <a:ln w="11430">
            <a:solidFill>
              <a:srgbClr val="E6D5B2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1EBED6A-0DFE-4DFB-BE52-4D7A46064564}"/>
              </a:ext>
            </a:extLst>
          </p:cNvPr>
          <p:cNvSpPr>
            <a:spLocks noGrp="1"/>
          </p:cNvSpPr>
          <p:nvPr/>
        </p:nvSpPr>
        <p:spPr>
          <a:xfrm>
            <a:off x="1028700" y="2647950"/>
            <a:ext cx="16573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241714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41714"/>
                </a:solidFill>
                <a:latin typeface="Aptos"/>
                <a:ea typeface="Aptos"/>
                <a:cs typeface="Aptos"/>
              </a:rPr>
              <a:t>Customer Web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BF29577-8C2E-4557-87F6-504BAE532608}"/>
              </a:ext>
            </a:extLst>
          </p:cNvPr>
          <p:cNvSpPr>
            <a:spLocks noGrp="1"/>
          </p:cNvSpPr>
          <p:nvPr/>
        </p:nvSpPr>
        <p:spPr>
          <a:xfrm>
            <a:off x="1028700" y="2971800"/>
            <a:ext cx="16573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A564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A5647"/>
                </a:solidFill>
                <a:latin typeface="Aptos"/>
                <a:ea typeface="Aptos"/>
                <a:cs typeface="Aptos"/>
              </a:rPr>
              <a:t>Booking + dashboard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CE5B459-4F28-40B0-9B53-B17351012225}"/>
              </a:ext>
            </a:extLst>
          </p:cNvPr>
          <p:cNvSpPr>
            <a:spLocks noGrp="1"/>
          </p:cNvSpPr>
          <p:nvPr/>
        </p:nvSpPr>
        <p:spPr>
          <a:xfrm>
            <a:off x="857250" y="3905250"/>
            <a:ext cx="2000250" cy="819150"/>
          </a:xfrm>
          <a:prstGeom prst="roundRect">
            <a:avLst>
              <a:gd name="adj" fmla="val 9302"/>
            </a:avLst>
          </a:prstGeom>
          <a:solidFill>
            <a:srgbClr val="FFFDF8"/>
          </a:solidFill>
          <a:ln w="11430">
            <a:solidFill>
              <a:srgbClr val="E6D5B2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D55E6B2-40D3-456F-BA31-93BE29ABD7C4}"/>
              </a:ext>
            </a:extLst>
          </p:cNvPr>
          <p:cNvSpPr>
            <a:spLocks noGrp="1"/>
          </p:cNvSpPr>
          <p:nvPr/>
        </p:nvSpPr>
        <p:spPr>
          <a:xfrm>
            <a:off x="1028700" y="4076700"/>
            <a:ext cx="16573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241714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41714"/>
                </a:solidFill>
                <a:latin typeface="Aptos"/>
                <a:ea typeface="Aptos"/>
                <a:cs typeface="Aptos"/>
              </a:rPr>
              <a:t>Android App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EA9A911-4DF2-4EDB-98A1-CEADC4F06373}"/>
              </a:ext>
            </a:extLst>
          </p:cNvPr>
          <p:cNvSpPr>
            <a:spLocks noGrp="1"/>
          </p:cNvSpPr>
          <p:nvPr/>
        </p:nvSpPr>
        <p:spPr>
          <a:xfrm>
            <a:off x="1028700" y="4400550"/>
            <a:ext cx="16573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A564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A5647"/>
                </a:solidFill>
                <a:latin typeface="Aptos"/>
                <a:ea typeface="Aptos"/>
                <a:cs typeface="Aptos"/>
              </a:rPr>
              <a:t>Mobile booking + account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77FC1D33-16F3-4075-8627-ECB89B2753D8}"/>
              </a:ext>
            </a:extLst>
          </p:cNvPr>
          <p:cNvSpPr>
            <a:spLocks noGrp="1"/>
          </p:cNvSpPr>
          <p:nvPr/>
        </p:nvSpPr>
        <p:spPr>
          <a:xfrm>
            <a:off x="4095750" y="2381250"/>
            <a:ext cx="2381250" cy="1143000"/>
          </a:xfrm>
          <a:prstGeom prst="roundRect">
            <a:avLst>
              <a:gd name="adj" fmla="val 6667"/>
            </a:avLst>
          </a:prstGeom>
          <a:solidFill>
            <a:srgbClr val="FFF2C7"/>
          </a:solidFill>
          <a:ln w="11430">
            <a:solidFill>
              <a:srgbClr val="E6D5B2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153A2BD-E079-4840-A9EA-56FC691D9A34}"/>
              </a:ext>
            </a:extLst>
          </p:cNvPr>
          <p:cNvSpPr>
            <a:spLocks noGrp="1"/>
          </p:cNvSpPr>
          <p:nvPr/>
        </p:nvSpPr>
        <p:spPr>
          <a:xfrm>
            <a:off x="4267200" y="2552700"/>
            <a:ext cx="20383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9F1914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9F1914"/>
                </a:solidFill>
                <a:latin typeface="Aptos"/>
                <a:ea typeface="Aptos"/>
                <a:cs typeface="Aptos"/>
              </a:rPr>
              <a:t>Laravel Backend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0F0A8E0-902D-4E33-B22D-72B12FED3D0F}"/>
              </a:ext>
            </a:extLst>
          </p:cNvPr>
          <p:cNvSpPr>
            <a:spLocks noGrp="1"/>
          </p:cNvSpPr>
          <p:nvPr/>
        </p:nvSpPr>
        <p:spPr>
          <a:xfrm>
            <a:off x="4267200" y="2876550"/>
            <a:ext cx="20383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A564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A5647"/>
                </a:solidFill>
                <a:latin typeface="Aptos"/>
                <a:ea typeface="Aptos"/>
                <a:cs typeface="Aptos"/>
              </a:rPr>
              <a:t>Routes, controllers, validation, pricing, availability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37416E0E-8879-43FC-BF75-8928A92FDABD}"/>
              </a:ext>
            </a:extLst>
          </p:cNvPr>
          <p:cNvSpPr>
            <a:spLocks noGrp="1"/>
          </p:cNvSpPr>
          <p:nvPr/>
        </p:nvSpPr>
        <p:spPr>
          <a:xfrm>
            <a:off x="4095750" y="4095750"/>
            <a:ext cx="2381250" cy="876300"/>
          </a:xfrm>
          <a:prstGeom prst="roundRect">
            <a:avLst>
              <a:gd name="adj" fmla="val 8696"/>
            </a:avLst>
          </a:prstGeom>
          <a:solidFill>
            <a:srgbClr val="FFFDF8"/>
          </a:solidFill>
          <a:ln w="11430">
            <a:solidFill>
              <a:srgbClr val="E6D5B2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A31C7F1-F58B-4D83-BEE9-69D97341D44F}"/>
              </a:ext>
            </a:extLst>
          </p:cNvPr>
          <p:cNvSpPr>
            <a:spLocks noGrp="1"/>
          </p:cNvSpPr>
          <p:nvPr/>
        </p:nvSpPr>
        <p:spPr>
          <a:xfrm>
            <a:off x="4267200" y="4267200"/>
            <a:ext cx="20383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241714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41714"/>
                </a:solidFill>
                <a:latin typeface="Aptos"/>
                <a:ea typeface="Aptos"/>
                <a:cs typeface="Aptos"/>
              </a:rPr>
              <a:t>Sanctum API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3F74291-279B-4FEF-9560-FC5C50C0F96B}"/>
              </a:ext>
            </a:extLst>
          </p:cNvPr>
          <p:cNvSpPr>
            <a:spLocks noGrp="1"/>
          </p:cNvSpPr>
          <p:nvPr/>
        </p:nvSpPr>
        <p:spPr>
          <a:xfrm>
            <a:off x="4267200" y="4591050"/>
            <a:ext cx="20383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A564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A5647"/>
                </a:solidFill>
                <a:latin typeface="Aptos"/>
                <a:ea typeface="Aptos"/>
                <a:cs typeface="Aptos"/>
              </a:rPr>
              <a:t>Token-authenticated mobile requests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E72141A7-05DE-4F8C-AD46-43B458CA80E1}"/>
              </a:ext>
            </a:extLst>
          </p:cNvPr>
          <p:cNvSpPr>
            <a:spLocks noGrp="1"/>
          </p:cNvSpPr>
          <p:nvPr/>
        </p:nvSpPr>
        <p:spPr>
          <a:xfrm>
            <a:off x="7810500" y="2476500"/>
            <a:ext cx="2190750" cy="904875"/>
          </a:xfrm>
          <a:prstGeom prst="roundRect">
            <a:avLst>
              <a:gd name="adj" fmla="val 8421"/>
            </a:avLst>
          </a:prstGeom>
          <a:solidFill>
            <a:srgbClr val="FFFDF8"/>
          </a:solidFill>
          <a:ln w="11430">
            <a:solidFill>
              <a:srgbClr val="E6D5B2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3212352-C30F-4D9D-90A6-268F3FEF69CC}"/>
              </a:ext>
            </a:extLst>
          </p:cNvPr>
          <p:cNvSpPr>
            <a:spLocks noGrp="1"/>
          </p:cNvSpPr>
          <p:nvPr/>
        </p:nvSpPr>
        <p:spPr>
          <a:xfrm>
            <a:off x="7981950" y="2647950"/>
            <a:ext cx="1847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241714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41714"/>
                </a:solidFill>
                <a:latin typeface="Aptos"/>
                <a:ea typeface="Aptos"/>
                <a:cs typeface="Aptos"/>
              </a:rPr>
              <a:t>Database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00C05BB-DD44-43B4-B6A6-91E2BEF2A9AF}"/>
              </a:ext>
            </a:extLst>
          </p:cNvPr>
          <p:cNvSpPr>
            <a:spLocks noGrp="1"/>
          </p:cNvSpPr>
          <p:nvPr/>
        </p:nvSpPr>
        <p:spPr>
          <a:xfrm>
            <a:off x="7981950" y="2971800"/>
            <a:ext cx="18478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A564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A5647"/>
                </a:solidFill>
                <a:latin typeface="Aptos"/>
                <a:ea typeface="Aptos"/>
                <a:cs typeface="Aptos"/>
              </a:rPr>
              <a:t>Users, reservations, branches, catalog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531D272D-B51C-4FB0-9809-BA5369E8B442}"/>
              </a:ext>
            </a:extLst>
          </p:cNvPr>
          <p:cNvSpPr>
            <a:spLocks noGrp="1"/>
          </p:cNvSpPr>
          <p:nvPr/>
        </p:nvSpPr>
        <p:spPr>
          <a:xfrm>
            <a:off x="7810500" y="4000500"/>
            <a:ext cx="2190750" cy="904875"/>
          </a:xfrm>
          <a:prstGeom prst="roundRect">
            <a:avLst>
              <a:gd name="adj" fmla="val 8421"/>
            </a:avLst>
          </a:prstGeom>
          <a:solidFill>
            <a:srgbClr val="FFFDF8"/>
          </a:solidFill>
          <a:ln w="11430">
            <a:solidFill>
              <a:srgbClr val="E6D5B2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A3FAD24-EC27-470D-8A42-9ADF2AA3B2C0}"/>
              </a:ext>
            </a:extLst>
          </p:cNvPr>
          <p:cNvSpPr>
            <a:spLocks noGrp="1"/>
          </p:cNvSpPr>
          <p:nvPr/>
        </p:nvSpPr>
        <p:spPr>
          <a:xfrm>
            <a:off x="7981950" y="4171950"/>
            <a:ext cx="1847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241714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41714"/>
                </a:solidFill>
                <a:latin typeface="Aptos"/>
                <a:ea typeface="Aptos"/>
                <a:cs typeface="Aptos"/>
              </a:rPr>
              <a:t>File Storage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2E4B892-B1D0-408B-9C0E-B1911D59CDC1}"/>
              </a:ext>
            </a:extLst>
          </p:cNvPr>
          <p:cNvSpPr>
            <a:spLocks noGrp="1"/>
          </p:cNvSpPr>
          <p:nvPr/>
        </p:nvSpPr>
        <p:spPr>
          <a:xfrm>
            <a:off x="7981950" y="4495800"/>
            <a:ext cx="18478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A564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A5647"/>
                </a:solidFill>
                <a:latin typeface="Aptos"/>
                <a:ea typeface="Aptos"/>
                <a:cs typeface="Aptos"/>
              </a:rPr>
              <a:t>Payment proof and booking assets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58BCFDD-9213-45D7-A1AD-DAA1F955C119}"/>
              </a:ext>
            </a:extLst>
          </p:cNvPr>
          <p:cNvSpPr>
            <a:spLocks noGrp="1"/>
          </p:cNvSpPr>
          <p:nvPr/>
        </p:nvSpPr>
        <p:spPr>
          <a:xfrm>
            <a:off x="2857500" y="2867025"/>
            <a:ext cx="1238250" cy="38100"/>
          </a:xfrm>
          <a:prstGeom prst="rect">
            <a:avLst/>
          </a:prstGeom>
          <a:solidFill>
            <a:srgbClr val="DA291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Isosceles Triangle 26">
            <a:extLst>
              <a:ext uri="{FF2B5EF4-FFF2-40B4-BE49-F238E27FC236}">
                <a16:creationId xmlns:a16="http://schemas.microsoft.com/office/drawing/2014/main" id="{0FA8F343-F850-4607-A035-B807667516F4}"/>
              </a:ext>
            </a:extLst>
          </p:cNvPr>
          <p:cNvSpPr>
            <a:spLocks noGrp="1"/>
          </p:cNvSpPr>
          <p:nvPr/>
        </p:nvSpPr>
        <p:spPr>
          <a:xfrm>
            <a:off x="4000500" y="2809875"/>
            <a:ext cx="152400" cy="152400"/>
          </a:xfrm>
          <a:prstGeom prst="triangle">
            <a:avLst/>
          </a:prstGeom>
          <a:solidFill>
            <a:srgbClr val="DA291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BAC68B5-9C17-4F51-BCDD-9C011BC748F3}"/>
              </a:ext>
            </a:extLst>
          </p:cNvPr>
          <p:cNvSpPr>
            <a:spLocks noGrp="1"/>
          </p:cNvSpPr>
          <p:nvPr/>
        </p:nvSpPr>
        <p:spPr>
          <a:xfrm>
            <a:off x="2857500" y="4295775"/>
            <a:ext cx="1238250" cy="38100"/>
          </a:xfrm>
          <a:prstGeom prst="rect">
            <a:avLst/>
          </a:prstGeom>
          <a:solidFill>
            <a:srgbClr val="DA291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Isosceles Triangle 28">
            <a:extLst>
              <a:ext uri="{FF2B5EF4-FFF2-40B4-BE49-F238E27FC236}">
                <a16:creationId xmlns:a16="http://schemas.microsoft.com/office/drawing/2014/main" id="{E6D4B164-AAE8-480B-95D3-D5CCD4A6792C}"/>
              </a:ext>
            </a:extLst>
          </p:cNvPr>
          <p:cNvSpPr>
            <a:spLocks noGrp="1"/>
          </p:cNvSpPr>
          <p:nvPr/>
        </p:nvSpPr>
        <p:spPr>
          <a:xfrm>
            <a:off x="4000500" y="4448175"/>
            <a:ext cx="152400" cy="152400"/>
          </a:xfrm>
          <a:prstGeom prst="triangle">
            <a:avLst/>
          </a:prstGeom>
          <a:solidFill>
            <a:srgbClr val="DA291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83727CC-F93C-4771-BA69-9AD36E61875E}"/>
              </a:ext>
            </a:extLst>
          </p:cNvPr>
          <p:cNvSpPr>
            <a:spLocks noGrp="1"/>
          </p:cNvSpPr>
          <p:nvPr/>
        </p:nvSpPr>
        <p:spPr>
          <a:xfrm>
            <a:off x="6477000" y="2933700"/>
            <a:ext cx="1333500" cy="38100"/>
          </a:xfrm>
          <a:prstGeom prst="rect">
            <a:avLst/>
          </a:prstGeom>
          <a:solidFill>
            <a:srgbClr val="DA291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Isosceles Triangle 30">
            <a:extLst>
              <a:ext uri="{FF2B5EF4-FFF2-40B4-BE49-F238E27FC236}">
                <a16:creationId xmlns:a16="http://schemas.microsoft.com/office/drawing/2014/main" id="{1640884A-E47B-43CF-BB6F-9C31643D6E60}"/>
              </a:ext>
            </a:extLst>
          </p:cNvPr>
          <p:cNvSpPr>
            <a:spLocks noGrp="1"/>
          </p:cNvSpPr>
          <p:nvPr/>
        </p:nvSpPr>
        <p:spPr>
          <a:xfrm>
            <a:off x="7715250" y="2876550"/>
            <a:ext cx="152400" cy="152400"/>
          </a:xfrm>
          <a:prstGeom prst="triangle">
            <a:avLst/>
          </a:prstGeom>
          <a:solidFill>
            <a:srgbClr val="DA291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F2D0D0E-B0E9-4347-84DA-3B1191E3127F}"/>
              </a:ext>
            </a:extLst>
          </p:cNvPr>
          <p:cNvSpPr>
            <a:spLocks noGrp="1"/>
          </p:cNvSpPr>
          <p:nvPr/>
        </p:nvSpPr>
        <p:spPr>
          <a:xfrm>
            <a:off x="6477000" y="4505325"/>
            <a:ext cx="1333500" cy="38100"/>
          </a:xfrm>
          <a:prstGeom prst="rect">
            <a:avLst/>
          </a:prstGeom>
          <a:solidFill>
            <a:srgbClr val="DA291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Isosceles Triangle 32">
            <a:extLst>
              <a:ext uri="{FF2B5EF4-FFF2-40B4-BE49-F238E27FC236}">
                <a16:creationId xmlns:a16="http://schemas.microsoft.com/office/drawing/2014/main" id="{721BC3D7-0C94-4FF7-BFD5-564539B7E44D}"/>
              </a:ext>
            </a:extLst>
          </p:cNvPr>
          <p:cNvSpPr>
            <a:spLocks noGrp="1"/>
          </p:cNvSpPr>
          <p:nvPr/>
        </p:nvSpPr>
        <p:spPr>
          <a:xfrm>
            <a:off x="7715250" y="4381500"/>
            <a:ext cx="152400" cy="152400"/>
          </a:xfrm>
          <a:prstGeom prst="triangle">
            <a:avLst/>
          </a:prstGeom>
          <a:solidFill>
            <a:srgbClr val="DA291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8C94FF4-BDFB-44F3-9B9C-8584BCF6E23E}"/>
              </a:ext>
            </a:extLst>
          </p:cNvPr>
          <p:cNvSpPr>
            <a:spLocks noGrp="1"/>
          </p:cNvSpPr>
          <p:nvPr/>
        </p:nvSpPr>
        <p:spPr>
          <a:xfrm>
            <a:off x="11287125" y="63246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A564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A5647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FC44F9E-3697-4EC0-A5E7-45964DFCF950}"/>
              </a:ext>
            </a:extLst>
          </p:cNvPr>
          <p:cNvSpPr>
            <a:spLocks noGrp="1"/>
          </p:cNvSpPr>
          <p:nvPr/>
        </p:nvSpPr>
        <p:spPr>
          <a:xfrm>
            <a:off x="571500" y="6448425"/>
            <a:ext cx="10287000" cy="9525"/>
          </a:xfrm>
          <a:prstGeom prst="rect">
            <a:avLst/>
          </a:prstGeom>
          <a:solidFill>
            <a:srgbClr val="E6D5B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933337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>
            <a:extLst>
              <a:ext uri="{FF2B5EF4-FFF2-40B4-BE49-F238E27FC236}">
                <a16:creationId xmlns:a16="http://schemas.microsoft.com/office/drawing/2014/main" id="{0877AC5A-B329-46B5-8491-FB454E029B3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8E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5BFD849-DE41-4798-9CC2-45A574C0CE5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FFC72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55E202D-759C-4AB6-A88C-B4A5CA8D9D35}"/>
              </a:ext>
            </a:extLst>
          </p:cNvPr>
          <p:cNvSpPr>
            <a:spLocks noGrp="1"/>
          </p:cNvSpPr>
          <p:nvPr/>
        </p:nvSpPr>
        <p:spPr>
          <a:xfrm>
            <a:off x="0" y="152400"/>
            <a:ext cx="12192000" cy="47625"/>
          </a:xfrm>
          <a:prstGeom prst="rect">
            <a:avLst/>
          </a:prstGeom>
          <a:solidFill>
            <a:srgbClr val="DA291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marker-7">
            <a:extLst>
              <a:ext uri="{FF2B5EF4-FFF2-40B4-BE49-F238E27FC236}">
                <a16:creationId xmlns:a16="http://schemas.microsoft.com/office/drawing/2014/main" id="{770E2BC2-0238-4675-8D67-58A8BADCC0B5}"/>
              </a:ext>
            </a:extLst>
          </p:cNvPr>
          <p:cNvSpPr>
            <a:spLocks noGrp="1"/>
          </p:cNvSpPr>
          <p:nvPr/>
        </p:nvSpPr>
        <p:spPr>
          <a:xfrm>
            <a:off x="571500" y="457200"/>
            <a:ext cx="114300" cy="114300"/>
          </a:xfrm>
          <a:prstGeom prst="ellipse">
            <a:avLst/>
          </a:prstGeom>
          <a:solidFill>
            <a:srgbClr val="DA291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-7">
            <a:extLst>
              <a:ext uri="{FF2B5EF4-FFF2-40B4-BE49-F238E27FC236}">
                <a16:creationId xmlns:a16="http://schemas.microsoft.com/office/drawing/2014/main" id="{893E02A4-E42E-4D6D-AB00-8C459DF550F2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000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9F191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9F1914"/>
                </a:solidFill>
                <a:latin typeface="Aptos"/>
                <a:ea typeface="Aptos"/>
                <a:cs typeface="Aptos"/>
              </a:rPr>
              <a:t>SYSTEM MODULES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E29D563-0317-4B4E-ABC3-DD1D68508A9E}"/>
              </a:ext>
            </a:extLst>
          </p:cNvPr>
          <p:cNvSpPr>
            <a:spLocks noGrp="1"/>
          </p:cNvSpPr>
          <p:nvPr/>
        </p:nvSpPr>
        <p:spPr>
          <a:xfrm>
            <a:off x="571500" y="742950"/>
            <a:ext cx="87630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241714"/>
                </a:solidFill>
                <a:latin typeface="Georgia"/>
                <a:ea typeface="Georgia"/>
                <a:cs typeface="Georgia"/>
              </a:defRPr>
            </a:pPr>
            <a:r>
              <a:rPr sz="2700" b="1">
                <a:solidFill>
                  <a:srgbClr val="241714"/>
                </a:solidFill>
                <a:latin typeface="Georgia"/>
                <a:ea typeface="Georgia"/>
                <a:cs typeface="Georgia"/>
              </a:rPr>
              <a:t>The system separates responsibilities without splitting the data.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15D7BA6-6A59-49BA-89AC-BF487A5013DD}"/>
              </a:ext>
            </a:extLst>
          </p:cNvPr>
          <p:cNvSpPr>
            <a:spLocks noGrp="1"/>
          </p:cNvSpPr>
          <p:nvPr/>
        </p:nvSpPr>
        <p:spPr>
          <a:xfrm>
            <a:off x="590550" y="1790700"/>
            <a:ext cx="72390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6A564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A5647"/>
                </a:solidFill>
                <a:latin typeface="Aptos"/>
                <a:ea typeface="Aptos"/>
                <a:cs typeface="Aptos"/>
              </a:rPr>
              <a:t>Customer, staff, and admin modules serve different users while updating the same reservation record.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4CC10EF-A00B-4BF1-8850-C6BD3235562E}"/>
              </a:ext>
            </a:extLst>
          </p:cNvPr>
          <p:cNvSpPr>
            <a:spLocks noGrp="1"/>
          </p:cNvSpPr>
          <p:nvPr/>
        </p:nvSpPr>
        <p:spPr>
          <a:xfrm>
            <a:off x="838200" y="2286000"/>
            <a:ext cx="2857500" cy="3000375"/>
          </a:xfrm>
          <a:prstGeom prst="roundRect">
            <a:avLst>
              <a:gd name="adj" fmla="val 2667"/>
            </a:avLst>
          </a:prstGeom>
          <a:solidFill>
            <a:srgbClr val="FFF2C7"/>
          </a:solidFill>
          <a:ln w="11430">
            <a:solidFill>
              <a:srgbClr val="E6D5B2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FC43781-7534-4DDC-9891-9E55AC7C1069}"/>
              </a:ext>
            </a:extLst>
          </p:cNvPr>
          <p:cNvSpPr>
            <a:spLocks noGrp="1"/>
          </p:cNvSpPr>
          <p:nvPr/>
        </p:nvSpPr>
        <p:spPr>
          <a:xfrm>
            <a:off x="1066800" y="2533650"/>
            <a:ext cx="2190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9F1914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9F1914"/>
                </a:solidFill>
                <a:latin typeface="Georgia"/>
                <a:ea typeface="Georgia"/>
                <a:cs typeface="Georgia"/>
              </a:rPr>
              <a:t>Customer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114C679-92DD-46B9-A1BC-3A04CE7AB396}"/>
              </a:ext>
            </a:extLst>
          </p:cNvPr>
          <p:cNvSpPr>
            <a:spLocks noGrp="1"/>
          </p:cNvSpPr>
          <p:nvPr/>
        </p:nvSpPr>
        <p:spPr>
          <a:xfrm>
            <a:off x="1143000" y="3219450"/>
            <a:ext cx="66675" cy="66675"/>
          </a:xfrm>
          <a:prstGeom prst="ellipse">
            <a:avLst/>
          </a:prstGeom>
          <a:solidFill>
            <a:srgbClr val="DA291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15AD72-AF1C-4C5D-AB33-540155C82049}"/>
              </a:ext>
            </a:extLst>
          </p:cNvPr>
          <p:cNvSpPr>
            <a:spLocks noGrp="1"/>
          </p:cNvSpPr>
          <p:nvPr/>
        </p:nvSpPr>
        <p:spPr>
          <a:xfrm>
            <a:off x="1314450" y="3143250"/>
            <a:ext cx="2066925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24171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41714"/>
                </a:solidFill>
                <a:latin typeface="Aptos"/>
                <a:ea typeface="Aptos"/>
                <a:cs typeface="Aptos"/>
              </a:rPr>
              <a:t>Register / login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3CBF9D0-B96B-41FC-BA55-167DD948DCF2}"/>
              </a:ext>
            </a:extLst>
          </p:cNvPr>
          <p:cNvSpPr>
            <a:spLocks noGrp="1"/>
          </p:cNvSpPr>
          <p:nvPr/>
        </p:nvSpPr>
        <p:spPr>
          <a:xfrm>
            <a:off x="1143000" y="3676650"/>
            <a:ext cx="66675" cy="66675"/>
          </a:xfrm>
          <a:prstGeom prst="ellipse">
            <a:avLst/>
          </a:prstGeom>
          <a:solidFill>
            <a:srgbClr val="DA291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A2CD4CE-002C-490F-930D-DB15885681B5}"/>
              </a:ext>
            </a:extLst>
          </p:cNvPr>
          <p:cNvSpPr>
            <a:spLocks noGrp="1"/>
          </p:cNvSpPr>
          <p:nvPr/>
        </p:nvSpPr>
        <p:spPr>
          <a:xfrm>
            <a:off x="1314450" y="3600450"/>
            <a:ext cx="2066925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24171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41714"/>
                </a:solidFill>
                <a:latin typeface="Aptos"/>
                <a:ea typeface="Aptos"/>
                <a:cs typeface="Aptos"/>
              </a:rPr>
              <a:t>Create reservation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54868FD-13D9-4AAE-B522-1E897623B106}"/>
              </a:ext>
            </a:extLst>
          </p:cNvPr>
          <p:cNvSpPr>
            <a:spLocks noGrp="1"/>
          </p:cNvSpPr>
          <p:nvPr/>
        </p:nvSpPr>
        <p:spPr>
          <a:xfrm>
            <a:off x="1143000" y="4133850"/>
            <a:ext cx="66675" cy="66675"/>
          </a:xfrm>
          <a:prstGeom prst="ellipse">
            <a:avLst/>
          </a:prstGeom>
          <a:solidFill>
            <a:srgbClr val="DA291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D25E124-5A3B-4AE0-9D95-5524DC5568DF}"/>
              </a:ext>
            </a:extLst>
          </p:cNvPr>
          <p:cNvSpPr>
            <a:spLocks noGrp="1"/>
          </p:cNvSpPr>
          <p:nvPr/>
        </p:nvSpPr>
        <p:spPr>
          <a:xfrm>
            <a:off x="1314450" y="4057650"/>
            <a:ext cx="2066925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24171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41714"/>
                </a:solidFill>
                <a:latin typeface="Aptos"/>
                <a:ea typeface="Aptos"/>
                <a:cs typeface="Aptos"/>
              </a:rPr>
              <a:t>Upload payment proof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37609AD-691F-4903-9FAD-C57FAF5AB3B9}"/>
              </a:ext>
            </a:extLst>
          </p:cNvPr>
          <p:cNvSpPr>
            <a:spLocks noGrp="1"/>
          </p:cNvSpPr>
          <p:nvPr/>
        </p:nvSpPr>
        <p:spPr>
          <a:xfrm>
            <a:off x="1143000" y="4591050"/>
            <a:ext cx="66675" cy="66675"/>
          </a:xfrm>
          <a:prstGeom prst="ellipse">
            <a:avLst/>
          </a:prstGeom>
          <a:solidFill>
            <a:srgbClr val="DA291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3340CFD-87D2-413D-887F-0BDC97A020C7}"/>
              </a:ext>
            </a:extLst>
          </p:cNvPr>
          <p:cNvSpPr>
            <a:spLocks noGrp="1"/>
          </p:cNvSpPr>
          <p:nvPr/>
        </p:nvSpPr>
        <p:spPr>
          <a:xfrm>
            <a:off x="1314450" y="4514850"/>
            <a:ext cx="2066925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24171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41714"/>
                </a:solidFill>
                <a:latin typeface="Aptos"/>
                <a:ea typeface="Aptos"/>
                <a:cs typeface="Aptos"/>
              </a:rPr>
              <a:t>Track / reschedule / cancel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E9B10521-AE1B-4021-BA98-60B3DB1EE090}"/>
              </a:ext>
            </a:extLst>
          </p:cNvPr>
          <p:cNvSpPr>
            <a:spLocks noGrp="1"/>
          </p:cNvSpPr>
          <p:nvPr/>
        </p:nvSpPr>
        <p:spPr>
          <a:xfrm>
            <a:off x="4362450" y="2286000"/>
            <a:ext cx="2857500" cy="3000375"/>
          </a:xfrm>
          <a:prstGeom prst="roundRect">
            <a:avLst>
              <a:gd name="adj" fmla="val 2667"/>
            </a:avLst>
          </a:prstGeom>
          <a:solidFill>
            <a:srgbClr val="FFFDF8"/>
          </a:solidFill>
          <a:ln w="11430">
            <a:solidFill>
              <a:srgbClr val="E6D5B2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9391310-D8C7-4DE0-9ED9-C2FC4F743591}"/>
              </a:ext>
            </a:extLst>
          </p:cNvPr>
          <p:cNvSpPr>
            <a:spLocks noGrp="1"/>
          </p:cNvSpPr>
          <p:nvPr/>
        </p:nvSpPr>
        <p:spPr>
          <a:xfrm>
            <a:off x="4591050" y="2533650"/>
            <a:ext cx="2190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241714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241714"/>
                </a:solidFill>
                <a:latin typeface="Georgia"/>
                <a:ea typeface="Georgia"/>
                <a:cs typeface="Georgia"/>
              </a:rPr>
              <a:t>Staff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62BE8CE0-8CDE-49EA-944E-5CC7F2BCD12E}"/>
              </a:ext>
            </a:extLst>
          </p:cNvPr>
          <p:cNvSpPr>
            <a:spLocks noGrp="1"/>
          </p:cNvSpPr>
          <p:nvPr/>
        </p:nvSpPr>
        <p:spPr>
          <a:xfrm>
            <a:off x="4667250" y="3219450"/>
            <a:ext cx="66675" cy="66675"/>
          </a:xfrm>
          <a:prstGeom prst="ellipse">
            <a:avLst/>
          </a:prstGeom>
          <a:solidFill>
            <a:srgbClr val="DA291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23EEB43-9BA3-4325-9AA7-3567AC79506F}"/>
              </a:ext>
            </a:extLst>
          </p:cNvPr>
          <p:cNvSpPr>
            <a:spLocks noGrp="1"/>
          </p:cNvSpPr>
          <p:nvPr/>
        </p:nvSpPr>
        <p:spPr>
          <a:xfrm>
            <a:off x="4838700" y="3143250"/>
            <a:ext cx="2066925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24171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41714"/>
                </a:solidFill>
                <a:latin typeface="Aptos"/>
                <a:ea typeface="Aptos"/>
                <a:cs typeface="Aptos"/>
              </a:rPr>
              <a:t>Daily prep list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D43BDE5B-B336-482D-BBA4-9ED61A1B765C}"/>
              </a:ext>
            </a:extLst>
          </p:cNvPr>
          <p:cNvSpPr>
            <a:spLocks noGrp="1"/>
          </p:cNvSpPr>
          <p:nvPr/>
        </p:nvSpPr>
        <p:spPr>
          <a:xfrm>
            <a:off x="4667250" y="3676650"/>
            <a:ext cx="66675" cy="66675"/>
          </a:xfrm>
          <a:prstGeom prst="ellipse">
            <a:avLst/>
          </a:prstGeom>
          <a:solidFill>
            <a:srgbClr val="DA291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37EFF63-DE83-4CDD-BE2B-FEDE5C479C2C}"/>
              </a:ext>
            </a:extLst>
          </p:cNvPr>
          <p:cNvSpPr>
            <a:spLocks noGrp="1"/>
          </p:cNvSpPr>
          <p:nvPr/>
        </p:nvSpPr>
        <p:spPr>
          <a:xfrm>
            <a:off x="4838700" y="3600450"/>
            <a:ext cx="2066925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24171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41714"/>
                </a:solidFill>
                <a:latin typeface="Aptos"/>
                <a:ea typeface="Aptos"/>
                <a:cs typeface="Aptos"/>
              </a:rPr>
              <a:t>Guest check-in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D70049D3-12A9-4FA8-84FD-62AAE6E4957E}"/>
              </a:ext>
            </a:extLst>
          </p:cNvPr>
          <p:cNvSpPr>
            <a:spLocks noGrp="1"/>
          </p:cNvSpPr>
          <p:nvPr/>
        </p:nvSpPr>
        <p:spPr>
          <a:xfrm>
            <a:off x="4667250" y="4133850"/>
            <a:ext cx="66675" cy="66675"/>
          </a:xfrm>
          <a:prstGeom prst="ellipse">
            <a:avLst/>
          </a:prstGeom>
          <a:solidFill>
            <a:srgbClr val="DA291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2F6ED36-46E3-4186-A838-97E8A1F283D9}"/>
              </a:ext>
            </a:extLst>
          </p:cNvPr>
          <p:cNvSpPr>
            <a:spLocks noGrp="1"/>
          </p:cNvSpPr>
          <p:nvPr/>
        </p:nvSpPr>
        <p:spPr>
          <a:xfrm>
            <a:off x="4838700" y="4057650"/>
            <a:ext cx="2066925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24171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41714"/>
                </a:solidFill>
                <a:latin typeface="Aptos"/>
                <a:ea typeface="Aptos"/>
                <a:cs typeface="Aptos"/>
              </a:rPr>
              <a:t>Service status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63B1A6F4-E779-4EDE-AC05-CD80B597327E}"/>
              </a:ext>
            </a:extLst>
          </p:cNvPr>
          <p:cNvSpPr>
            <a:spLocks noGrp="1"/>
          </p:cNvSpPr>
          <p:nvPr/>
        </p:nvSpPr>
        <p:spPr>
          <a:xfrm>
            <a:off x="4667250" y="4591050"/>
            <a:ext cx="66675" cy="66675"/>
          </a:xfrm>
          <a:prstGeom prst="ellipse">
            <a:avLst/>
          </a:prstGeom>
          <a:solidFill>
            <a:srgbClr val="DA291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BEE4FE7-981B-4000-BD0B-7F724720179C}"/>
              </a:ext>
            </a:extLst>
          </p:cNvPr>
          <p:cNvSpPr>
            <a:spLocks noGrp="1"/>
          </p:cNvSpPr>
          <p:nvPr/>
        </p:nvSpPr>
        <p:spPr>
          <a:xfrm>
            <a:off x="4838700" y="4514850"/>
            <a:ext cx="2066925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24171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41714"/>
                </a:solidFill>
                <a:latin typeface="Aptos"/>
                <a:ea typeface="Aptos"/>
                <a:cs typeface="Aptos"/>
              </a:rPr>
              <a:t>Service adjustments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DDCE5AE3-D76F-4DBF-B67D-0D2AD67A7964}"/>
              </a:ext>
            </a:extLst>
          </p:cNvPr>
          <p:cNvSpPr>
            <a:spLocks noGrp="1"/>
          </p:cNvSpPr>
          <p:nvPr/>
        </p:nvSpPr>
        <p:spPr>
          <a:xfrm>
            <a:off x="7886700" y="2286000"/>
            <a:ext cx="2857500" cy="3000375"/>
          </a:xfrm>
          <a:prstGeom prst="roundRect">
            <a:avLst>
              <a:gd name="adj" fmla="val 2667"/>
            </a:avLst>
          </a:prstGeom>
          <a:solidFill>
            <a:srgbClr val="FFFDF8"/>
          </a:solidFill>
          <a:ln w="11430">
            <a:solidFill>
              <a:srgbClr val="E6D5B2"/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F791DA5-FE6A-4DB8-A75E-F06E6FA86203}"/>
              </a:ext>
            </a:extLst>
          </p:cNvPr>
          <p:cNvSpPr>
            <a:spLocks noGrp="1"/>
          </p:cNvSpPr>
          <p:nvPr/>
        </p:nvSpPr>
        <p:spPr>
          <a:xfrm>
            <a:off x="8115300" y="2533650"/>
            <a:ext cx="2190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241714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241714"/>
                </a:solidFill>
                <a:latin typeface="Georgia"/>
                <a:ea typeface="Georgia"/>
                <a:cs typeface="Georgia"/>
              </a:rPr>
              <a:t>Admin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2E582210-4BBC-4A5A-99B9-7647E6BA4185}"/>
              </a:ext>
            </a:extLst>
          </p:cNvPr>
          <p:cNvSpPr>
            <a:spLocks noGrp="1"/>
          </p:cNvSpPr>
          <p:nvPr/>
        </p:nvSpPr>
        <p:spPr>
          <a:xfrm>
            <a:off x="8191500" y="3219450"/>
            <a:ext cx="66675" cy="66675"/>
          </a:xfrm>
          <a:prstGeom prst="ellipse">
            <a:avLst/>
          </a:prstGeom>
          <a:solidFill>
            <a:srgbClr val="DA291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1757523-32C2-47E3-A153-F9CD6C0271BB}"/>
              </a:ext>
            </a:extLst>
          </p:cNvPr>
          <p:cNvSpPr>
            <a:spLocks noGrp="1"/>
          </p:cNvSpPr>
          <p:nvPr/>
        </p:nvSpPr>
        <p:spPr>
          <a:xfrm>
            <a:off x="8362950" y="3143250"/>
            <a:ext cx="2066925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24171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41714"/>
                </a:solidFill>
                <a:latin typeface="Aptos"/>
                <a:ea typeface="Aptos"/>
                <a:cs typeface="Aptos"/>
              </a:rPr>
              <a:t>Review bookings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9D3B6282-15AC-4BC9-B308-0E2592CCD5EC}"/>
              </a:ext>
            </a:extLst>
          </p:cNvPr>
          <p:cNvSpPr>
            <a:spLocks noGrp="1"/>
          </p:cNvSpPr>
          <p:nvPr/>
        </p:nvSpPr>
        <p:spPr>
          <a:xfrm>
            <a:off x="8191500" y="3676650"/>
            <a:ext cx="66675" cy="66675"/>
          </a:xfrm>
          <a:prstGeom prst="ellipse">
            <a:avLst/>
          </a:prstGeom>
          <a:solidFill>
            <a:srgbClr val="DA291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85538B3-2B3F-46A1-B06F-B5AB28F38D4B}"/>
              </a:ext>
            </a:extLst>
          </p:cNvPr>
          <p:cNvSpPr>
            <a:spLocks noGrp="1"/>
          </p:cNvSpPr>
          <p:nvPr/>
        </p:nvSpPr>
        <p:spPr>
          <a:xfrm>
            <a:off x="8362950" y="3600450"/>
            <a:ext cx="2066925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24171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41714"/>
                </a:solidFill>
                <a:latin typeface="Aptos"/>
                <a:ea typeface="Aptos"/>
                <a:cs typeface="Aptos"/>
              </a:rPr>
              <a:t>Assign crew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0CF2EED0-C9EB-4BE9-A964-DE8B23A04984}"/>
              </a:ext>
            </a:extLst>
          </p:cNvPr>
          <p:cNvSpPr>
            <a:spLocks noGrp="1"/>
          </p:cNvSpPr>
          <p:nvPr/>
        </p:nvSpPr>
        <p:spPr>
          <a:xfrm>
            <a:off x="8191500" y="4133850"/>
            <a:ext cx="66675" cy="66675"/>
          </a:xfrm>
          <a:prstGeom prst="ellipse">
            <a:avLst/>
          </a:prstGeom>
          <a:solidFill>
            <a:srgbClr val="DA291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ECAAB6D-B558-40BE-A91C-342927808324}"/>
              </a:ext>
            </a:extLst>
          </p:cNvPr>
          <p:cNvSpPr>
            <a:spLocks noGrp="1"/>
          </p:cNvSpPr>
          <p:nvPr/>
        </p:nvSpPr>
        <p:spPr>
          <a:xfrm>
            <a:off x="8362950" y="4057650"/>
            <a:ext cx="2066925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24171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41714"/>
                </a:solidFill>
                <a:latin typeface="Aptos"/>
                <a:ea typeface="Aptos"/>
                <a:cs typeface="Aptos"/>
              </a:rPr>
              <a:t>Manage catalog + branches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3375569E-28AC-4068-8FE0-AB10C6C2A8D4}"/>
              </a:ext>
            </a:extLst>
          </p:cNvPr>
          <p:cNvSpPr>
            <a:spLocks noGrp="1"/>
          </p:cNvSpPr>
          <p:nvPr/>
        </p:nvSpPr>
        <p:spPr>
          <a:xfrm>
            <a:off x="8191500" y="4591050"/>
            <a:ext cx="66675" cy="66675"/>
          </a:xfrm>
          <a:prstGeom prst="ellipse">
            <a:avLst/>
          </a:prstGeom>
          <a:solidFill>
            <a:srgbClr val="DA291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13B0051-33FF-49FC-AB3B-8E76E295DF76}"/>
              </a:ext>
            </a:extLst>
          </p:cNvPr>
          <p:cNvSpPr>
            <a:spLocks noGrp="1"/>
          </p:cNvSpPr>
          <p:nvPr/>
        </p:nvSpPr>
        <p:spPr>
          <a:xfrm>
            <a:off x="8362950" y="4514850"/>
            <a:ext cx="2066925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24171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41714"/>
                </a:solidFill>
                <a:latin typeface="Aptos"/>
                <a:ea typeface="Aptos"/>
                <a:cs typeface="Aptos"/>
              </a:rPr>
              <a:t>Reports + accounts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7E6649B-8D5B-457D-BAB6-695F781527E5}"/>
              </a:ext>
            </a:extLst>
          </p:cNvPr>
          <p:cNvSpPr>
            <a:spLocks noGrp="1"/>
          </p:cNvSpPr>
          <p:nvPr/>
        </p:nvSpPr>
        <p:spPr>
          <a:xfrm>
            <a:off x="11287125" y="63246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A564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A5647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2EAE33A-7246-4791-AD4B-AB758B23933E}"/>
              </a:ext>
            </a:extLst>
          </p:cNvPr>
          <p:cNvSpPr>
            <a:spLocks noGrp="1"/>
          </p:cNvSpPr>
          <p:nvPr/>
        </p:nvSpPr>
        <p:spPr>
          <a:xfrm>
            <a:off x="571500" y="6448425"/>
            <a:ext cx="10287000" cy="9525"/>
          </a:xfrm>
          <a:prstGeom prst="rect">
            <a:avLst/>
          </a:prstGeom>
          <a:solidFill>
            <a:srgbClr val="E6D5B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330944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3E803E23-F69E-4929-9F08-E8908EDBEAC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8E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956A753-A536-49A6-98C5-3B3BBE3916C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FFC72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4BF542-AC08-4EEA-A9C4-13E98406F836}"/>
              </a:ext>
            </a:extLst>
          </p:cNvPr>
          <p:cNvSpPr>
            <a:spLocks noGrp="1"/>
          </p:cNvSpPr>
          <p:nvPr/>
        </p:nvSpPr>
        <p:spPr>
          <a:xfrm>
            <a:off x="0" y="152400"/>
            <a:ext cx="12192000" cy="47625"/>
          </a:xfrm>
          <a:prstGeom prst="rect">
            <a:avLst/>
          </a:prstGeom>
          <a:solidFill>
            <a:srgbClr val="DA291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marker-8">
            <a:extLst>
              <a:ext uri="{FF2B5EF4-FFF2-40B4-BE49-F238E27FC236}">
                <a16:creationId xmlns:a16="http://schemas.microsoft.com/office/drawing/2014/main" id="{2FE4FA85-9E75-401A-B2F0-BED90A2A85EB}"/>
              </a:ext>
            </a:extLst>
          </p:cNvPr>
          <p:cNvSpPr>
            <a:spLocks noGrp="1"/>
          </p:cNvSpPr>
          <p:nvPr/>
        </p:nvSpPr>
        <p:spPr>
          <a:xfrm>
            <a:off x="571500" y="457200"/>
            <a:ext cx="114300" cy="114300"/>
          </a:xfrm>
          <a:prstGeom prst="ellipse">
            <a:avLst/>
          </a:prstGeom>
          <a:solidFill>
            <a:srgbClr val="DA291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-8">
            <a:extLst>
              <a:ext uri="{FF2B5EF4-FFF2-40B4-BE49-F238E27FC236}">
                <a16:creationId xmlns:a16="http://schemas.microsoft.com/office/drawing/2014/main" id="{D6A71C95-6331-46A0-8734-B7899A8BD4A9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000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9F191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9F1914"/>
                </a:solidFill>
                <a:latin typeface="Aptos"/>
                <a:ea typeface="Aptos"/>
                <a:cs typeface="Aptos"/>
              </a:rPr>
              <a:t>RESERVATION FLOW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A52C5B4-EB8F-4208-8F5A-8A33249D404B}"/>
              </a:ext>
            </a:extLst>
          </p:cNvPr>
          <p:cNvSpPr>
            <a:spLocks noGrp="1"/>
          </p:cNvSpPr>
          <p:nvPr/>
        </p:nvSpPr>
        <p:spPr>
          <a:xfrm>
            <a:off x="571500" y="742950"/>
            <a:ext cx="87630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241714"/>
                </a:solidFill>
                <a:latin typeface="Georgia"/>
                <a:ea typeface="Georgia"/>
                <a:cs typeface="Georgia"/>
              </a:defRPr>
            </a:pPr>
            <a:r>
              <a:rPr sz="2700" b="1">
                <a:solidFill>
                  <a:srgbClr val="241714"/>
                </a:solidFill>
                <a:latin typeface="Georgia"/>
                <a:ea typeface="Georgia"/>
                <a:cs typeface="Georgia"/>
              </a:rPr>
              <a:t>A booking moves from customer input to admin decision and staff execution.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0AAA126-4DA5-4A49-949E-BF8BCE650BE4}"/>
              </a:ext>
            </a:extLst>
          </p:cNvPr>
          <p:cNvSpPr>
            <a:spLocks noGrp="1"/>
          </p:cNvSpPr>
          <p:nvPr/>
        </p:nvSpPr>
        <p:spPr>
          <a:xfrm>
            <a:off x="590550" y="1790700"/>
            <a:ext cx="72390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6A564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A5647"/>
                </a:solidFill>
                <a:latin typeface="Aptos"/>
                <a:ea typeface="Aptos"/>
                <a:cs typeface="Aptos"/>
              </a:rPr>
              <a:t>The workflow creates a traceable path from reservation request to branch preparation.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D75361A-555A-46FB-8A2D-807D76D19F74}"/>
              </a:ext>
            </a:extLst>
          </p:cNvPr>
          <p:cNvSpPr>
            <a:spLocks noGrp="1"/>
          </p:cNvSpPr>
          <p:nvPr/>
        </p:nvSpPr>
        <p:spPr>
          <a:xfrm>
            <a:off x="762000" y="2714625"/>
            <a:ext cx="1619250" cy="1381125"/>
          </a:xfrm>
          <a:prstGeom prst="roundRect">
            <a:avLst>
              <a:gd name="adj" fmla="val 5517"/>
            </a:avLst>
          </a:prstGeom>
          <a:solidFill>
            <a:srgbClr val="FFFDF8"/>
          </a:solidFill>
          <a:ln w="11430">
            <a:solidFill>
              <a:srgbClr val="E6D5B2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304DF2E-CA68-4073-846E-56811D171E8E}"/>
              </a:ext>
            </a:extLst>
          </p:cNvPr>
          <p:cNvSpPr>
            <a:spLocks noGrp="1"/>
          </p:cNvSpPr>
          <p:nvPr/>
        </p:nvSpPr>
        <p:spPr>
          <a:xfrm>
            <a:off x="933450" y="2952750"/>
            <a:ext cx="1238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241714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41714"/>
                </a:solidFill>
                <a:latin typeface="Aptos"/>
                <a:ea typeface="Aptos"/>
                <a:cs typeface="Aptos"/>
              </a:rPr>
              <a:t>Customer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3EE820B-E21D-4E59-91FE-703CF9F1849E}"/>
              </a:ext>
            </a:extLst>
          </p:cNvPr>
          <p:cNvSpPr>
            <a:spLocks noGrp="1"/>
          </p:cNvSpPr>
          <p:nvPr/>
        </p:nvSpPr>
        <p:spPr>
          <a:xfrm>
            <a:off x="933450" y="3333750"/>
            <a:ext cx="12382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6A5647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A5647"/>
                </a:solidFill>
                <a:latin typeface="Aptos"/>
                <a:ea typeface="Aptos"/>
                <a:cs typeface="Aptos"/>
              </a:rPr>
              <a:t>Select event, branch, schedule, package, menu, add-ons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D669C39-E3B8-43DE-9246-FF5659568199}"/>
              </a:ext>
            </a:extLst>
          </p:cNvPr>
          <p:cNvSpPr>
            <a:spLocks noGrp="1"/>
          </p:cNvSpPr>
          <p:nvPr/>
        </p:nvSpPr>
        <p:spPr>
          <a:xfrm>
            <a:off x="2400300" y="3371850"/>
            <a:ext cx="314325" cy="38100"/>
          </a:xfrm>
          <a:prstGeom prst="rect">
            <a:avLst/>
          </a:prstGeom>
          <a:solidFill>
            <a:srgbClr val="DA291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13921B51-3F6D-460F-B013-314029D030BA}"/>
              </a:ext>
            </a:extLst>
          </p:cNvPr>
          <p:cNvSpPr>
            <a:spLocks noGrp="1"/>
          </p:cNvSpPr>
          <p:nvPr/>
        </p:nvSpPr>
        <p:spPr>
          <a:xfrm>
            <a:off x="2619375" y="3314700"/>
            <a:ext cx="152400" cy="152400"/>
          </a:xfrm>
          <a:prstGeom prst="triangle">
            <a:avLst/>
          </a:prstGeom>
          <a:solidFill>
            <a:srgbClr val="DA291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CA36370-07D8-4A37-9ECB-2D1F8334AA93}"/>
              </a:ext>
            </a:extLst>
          </p:cNvPr>
          <p:cNvSpPr>
            <a:spLocks noGrp="1"/>
          </p:cNvSpPr>
          <p:nvPr/>
        </p:nvSpPr>
        <p:spPr>
          <a:xfrm>
            <a:off x="2857500" y="2714625"/>
            <a:ext cx="1619250" cy="1381125"/>
          </a:xfrm>
          <a:prstGeom prst="roundRect">
            <a:avLst>
              <a:gd name="adj" fmla="val 5517"/>
            </a:avLst>
          </a:prstGeom>
          <a:solidFill>
            <a:srgbClr val="FFF2C7"/>
          </a:solidFill>
          <a:ln w="11430">
            <a:solidFill>
              <a:srgbClr val="E6D5B2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898A841-9BBD-415D-ADBA-BE3DB242A6AF}"/>
              </a:ext>
            </a:extLst>
          </p:cNvPr>
          <p:cNvSpPr>
            <a:spLocks noGrp="1"/>
          </p:cNvSpPr>
          <p:nvPr/>
        </p:nvSpPr>
        <p:spPr>
          <a:xfrm>
            <a:off x="3028950" y="2952750"/>
            <a:ext cx="1238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9F1914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9F1914"/>
                </a:solidFill>
                <a:latin typeface="Aptos"/>
                <a:ea typeface="Aptos"/>
                <a:cs typeface="Aptos"/>
              </a:rPr>
              <a:t>System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EE1B160-D5E7-4638-A018-E4444F8F1C6F}"/>
              </a:ext>
            </a:extLst>
          </p:cNvPr>
          <p:cNvSpPr>
            <a:spLocks noGrp="1"/>
          </p:cNvSpPr>
          <p:nvPr/>
        </p:nvSpPr>
        <p:spPr>
          <a:xfrm>
            <a:off x="3028950" y="3333750"/>
            <a:ext cx="12382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6A5647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A5647"/>
                </a:solidFill>
                <a:latin typeface="Aptos"/>
                <a:ea typeface="Aptos"/>
                <a:cs typeface="Aptos"/>
              </a:rPr>
              <a:t>Validate fields, check availability, calculate totals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6EE99C2-1F88-4C4F-9C2E-08B9D63EFEB5}"/>
              </a:ext>
            </a:extLst>
          </p:cNvPr>
          <p:cNvSpPr>
            <a:spLocks noGrp="1"/>
          </p:cNvSpPr>
          <p:nvPr/>
        </p:nvSpPr>
        <p:spPr>
          <a:xfrm>
            <a:off x="4495800" y="3371850"/>
            <a:ext cx="314325" cy="38100"/>
          </a:xfrm>
          <a:prstGeom prst="rect">
            <a:avLst/>
          </a:prstGeom>
          <a:solidFill>
            <a:srgbClr val="DA291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6CF9D072-84DC-47A5-B29A-FC8B41DA8412}"/>
              </a:ext>
            </a:extLst>
          </p:cNvPr>
          <p:cNvSpPr>
            <a:spLocks noGrp="1"/>
          </p:cNvSpPr>
          <p:nvPr/>
        </p:nvSpPr>
        <p:spPr>
          <a:xfrm>
            <a:off x="4714875" y="3314700"/>
            <a:ext cx="152400" cy="152400"/>
          </a:xfrm>
          <a:prstGeom prst="triangle">
            <a:avLst/>
          </a:prstGeom>
          <a:solidFill>
            <a:srgbClr val="DA291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14CD0C4C-B935-4D48-BA6D-2E4CB892C61C}"/>
              </a:ext>
            </a:extLst>
          </p:cNvPr>
          <p:cNvSpPr>
            <a:spLocks noGrp="1"/>
          </p:cNvSpPr>
          <p:nvPr/>
        </p:nvSpPr>
        <p:spPr>
          <a:xfrm>
            <a:off x="4953000" y="2714625"/>
            <a:ext cx="1619250" cy="1381125"/>
          </a:xfrm>
          <a:prstGeom prst="roundRect">
            <a:avLst>
              <a:gd name="adj" fmla="val 5517"/>
            </a:avLst>
          </a:prstGeom>
          <a:solidFill>
            <a:srgbClr val="FFFDF8"/>
          </a:solidFill>
          <a:ln w="11430">
            <a:solidFill>
              <a:srgbClr val="E6D5B2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E9113AD-6BFD-4295-81CB-92A999C538DF}"/>
              </a:ext>
            </a:extLst>
          </p:cNvPr>
          <p:cNvSpPr>
            <a:spLocks noGrp="1"/>
          </p:cNvSpPr>
          <p:nvPr/>
        </p:nvSpPr>
        <p:spPr>
          <a:xfrm>
            <a:off x="5124450" y="2952750"/>
            <a:ext cx="1238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241714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41714"/>
                </a:solidFill>
                <a:latin typeface="Aptos"/>
                <a:ea typeface="Aptos"/>
                <a:cs typeface="Aptos"/>
              </a:rPr>
              <a:t>Database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13F64F1-8BFB-4F01-B0B2-867F77C80901}"/>
              </a:ext>
            </a:extLst>
          </p:cNvPr>
          <p:cNvSpPr>
            <a:spLocks noGrp="1"/>
          </p:cNvSpPr>
          <p:nvPr/>
        </p:nvSpPr>
        <p:spPr>
          <a:xfrm>
            <a:off x="5124450" y="3333750"/>
            <a:ext cx="12382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6A5647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A5647"/>
                </a:solidFill>
                <a:latin typeface="Aptos"/>
                <a:ea typeface="Aptos"/>
                <a:cs typeface="Aptos"/>
              </a:rPr>
              <a:t>Store reservation, payment proof path, booking reference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937B593-0E3A-4197-A072-7EE731D3052B}"/>
              </a:ext>
            </a:extLst>
          </p:cNvPr>
          <p:cNvSpPr>
            <a:spLocks noGrp="1"/>
          </p:cNvSpPr>
          <p:nvPr/>
        </p:nvSpPr>
        <p:spPr>
          <a:xfrm>
            <a:off x="6591300" y="3371850"/>
            <a:ext cx="314325" cy="38100"/>
          </a:xfrm>
          <a:prstGeom prst="rect">
            <a:avLst/>
          </a:prstGeom>
          <a:solidFill>
            <a:srgbClr val="DA291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10AD7398-A4E5-4F43-8BE7-2124EDB91020}"/>
              </a:ext>
            </a:extLst>
          </p:cNvPr>
          <p:cNvSpPr>
            <a:spLocks noGrp="1"/>
          </p:cNvSpPr>
          <p:nvPr/>
        </p:nvSpPr>
        <p:spPr>
          <a:xfrm>
            <a:off x="6810375" y="3314700"/>
            <a:ext cx="152400" cy="152400"/>
          </a:xfrm>
          <a:prstGeom prst="triangle">
            <a:avLst/>
          </a:prstGeom>
          <a:solidFill>
            <a:srgbClr val="DA291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82960114-B883-401C-B937-EFDAA92848B7}"/>
              </a:ext>
            </a:extLst>
          </p:cNvPr>
          <p:cNvSpPr>
            <a:spLocks noGrp="1"/>
          </p:cNvSpPr>
          <p:nvPr/>
        </p:nvSpPr>
        <p:spPr>
          <a:xfrm>
            <a:off x="7048500" y="2714625"/>
            <a:ext cx="1619250" cy="1381125"/>
          </a:xfrm>
          <a:prstGeom prst="roundRect">
            <a:avLst>
              <a:gd name="adj" fmla="val 5517"/>
            </a:avLst>
          </a:prstGeom>
          <a:solidFill>
            <a:srgbClr val="FFFDF8"/>
          </a:solidFill>
          <a:ln w="11430">
            <a:solidFill>
              <a:srgbClr val="E6D5B2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1D55875-5B3C-4CD5-B66A-B86B96FC76C5}"/>
              </a:ext>
            </a:extLst>
          </p:cNvPr>
          <p:cNvSpPr>
            <a:spLocks noGrp="1"/>
          </p:cNvSpPr>
          <p:nvPr/>
        </p:nvSpPr>
        <p:spPr>
          <a:xfrm>
            <a:off x="7219950" y="2952750"/>
            <a:ext cx="1238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241714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41714"/>
                </a:solidFill>
                <a:latin typeface="Aptos"/>
                <a:ea typeface="Aptos"/>
                <a:cs typeface="Aptos"/>
              </a:rPr>
              <a:t>Admin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A530B3B-0213-4D25-8380-3924E4F3E004}"/>
              </a:ext>
            </a:extLst>
          </p:cNvPr>
          <p:cNvSpPr>
            <a:spLocks noGrp="1"/>
          </p:cNvSpPr>
          <p:nvPr/>
        </p:nvSpPr>
        <p:spPr>
          <a:xfrm>
            <a:off x="7219950" y="3333750"/>
            <a:ext cx="12382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6A5647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A5647"/>
                </a:solidFill>
                <a:latin typeface="Aptos"/>
                <a:ea typeface="Aptos"/>
                <a:cs typeface="Aptos"/>
              </a:rPr>
              <a:t>Review proof, confirm/reject, assign crew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03A0840-76D4-4F8D-91E1-2825126D287B}"/>
              </a:ext>
            </a:extLst>
          </p:cNvPr>
          <p:cNvSpPr>
            <a:spLocks noGrp="1"/>
          </p:cNvSpPr>
          <p:nvPr/>
        </p:nvSpPr>
        <p:spPr>
          <a:xfrm>
            <a:off x="8686800" y="3371850"/>
            <a:ext cx="314325" cy="38100"/>
          </a:xfrm>
          <a:prstGeom prst="rect">
            <a:avLst/>
          </a:prstGeom>
          <a:solidFill>
            <a:srgbClr val="DA291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Isosceles Triangle 26">
            <a:extLst>
              <a:ext uri="{FF2B5EF4-FFF2-40B4-BE49-F238E27FC236}">
                <a16:creationId xmlns:a16="http://schemas.microsoft.com/office/drawing/2014/main" id="{665B04B7-A4E3-44C6-8A59-AE53014CC24D}"/>
              </a:ext>
            </a:extLst>
          </p:cNvPr>
          <p:cNvSpPr>
            <a:spLocks noGrp="1"/>
          </p:cNvSpPr>
          <p:nvPr/>
        </p:nvSpPr>
        <p:spPr>
          <a:xfrm>
            <a:off x="8905875" y="3314700"/>
            <a:ext cx="152400" cy="152400"/>
          </a:xfrm>
          <a:prstGeom prst="triangle">
            <a:avLst/>
          </a:prstGeom>
          <a:solidFill>
            <a:srgbClr val="DA291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6A27EB2E-85A0-4747-8948-3FF8246BA828}"/>
              </a:ext>
            </a:extLst>
          </p:cNvPr>
          <p:cNvSpPr>
            <a:spLocks noGrp="1"/>
          </p:cNvSpPr>
          <p:nvPr/>
        </p:nvSpPr>
        <p:spPr>
          <a:xfrm>
            <a:off x="9144000" y="2714625"/>
            <a:ext cx="1619250" cy="1381125"/>
          </a:xfrm>
          <a:prstGeom prst="roundRect">
            <a:avLst>
              <a:gd name="adj" fmla="val 5517"/>
            </a:avLst>
          </a:prstGeom>
          <a:solidFill>
            <a:srgbClr val="FFFDF8"/>
          </a:solidFill>
          <a:ln w="11430">
            <a:solidFill>
              <a:srgbClr val="E6D5B2"/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8EB1F66-A9CB-4837-85B8-7C9430F01E97}"/>
              </a:ext>
            </a:extLst>
          </p:cNvPr>
          <p:cNvSpPr>
            <a:spLocks noGrp="1"/>
          </p:cNvSpPr>
          <p:nvPr/>
        </p:nvSpPr>
        <p:spPr>
          <a:xfrm>
            <a:off x="9315450" y="2952750"/>
            <a:ext cx="1238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241714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41714"/>
                </a:solidFill>
                <a:latin typeface="Aptos"/>
                <a:ea typeface="Aptos"/>
                <a:cs typeface="Aptos"/>
              </a:rPr>
              <a:t>Staff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8168F6C-26ED-4C97-B44F-C2319B5D406B}"/>
              </a:ext>
            </a:extLst>
          </p:cNvPr>
          <p:cNvSpPr>
            <a:spLocks noGrp="1"/>
          </p:cNvSpPr>
          <p:nvPr/>
        </p:nvSpPr>
        <p:spPr>
          <a:xfrm>
            <a:off x="9315450" y="3333750"/>
            <a:ext cx="12382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6A5647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A5647"/>
                </a:solidFill>
                <a:latin typeface="Aptos"/>
                <a:ea typeface="Aptos"/>
                <a:cs typeface="Aptos"/>
              </a:rPr>
              <a:t>Prepare event, check in guest, update service status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DECB2A3-7A5D-4AC8-9E8C-CA5AEA9560FE}"/>
              </a:ext>
            </a:extLst>
          </p:cNvPr>
          <p:cNvSpPr>
            <a:spLocks noGrp="1"/>
          </p:cNvSpPr>
          <p:nvPr/>
        </p:nvSpPr>
        <p:spPr>
          <a:xfrm>
            <a:off x="11287125" y="63246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A564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A5647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CF89748-CC36-4A06-9667-FADEAC5CB8E6}"/>
              </a:ext>
            </a:extLst>
          </p:cNvPr>
          <p:cNvSpPr>
            <a:spLocks noGrp="1"/>
          </p:cNvSpPr>
          <p:nvPr/>
        </p:nvSpPr>
        <p:spPr>
          <a:xfrm>
            <a:off x="571500" y="6448425"/>
            <a:ext cx="10287000" cy="9525"/>
          </a:xfrm>
          <a:prstGeom prst="rect">
            <a:avLst/>
          </a:prstGeom>
          <a:solidFill>
            <a:srgbClr val="E6D5B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895846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A4305B22-BB66-4085-94E9-30CD5D748C5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8E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1192426-FC39-4624-B8D3-DCAAFC80BB5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FFC72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7E263EB-787F-4DA3-862C-329817B0EBB2}"/>
              </a:ext>
            </a:extLst>
          </p:cNvPr>
          <p:cNvSpPr>
            <a:spLocks noGrp="1"/>
          </p:cNvSpPr>
          <p:nvPr/>
        </p:nvSpPr>
        <p:spPr>
          <a:xfrm>
            <a:off x="0" y="152400"/>
            <a:ext cx="12192000" cy="47625"/>
          </a:xfrm>
          <a:prstGeom prst="rect">
            <a:avLst/>
          </a:prstGeom>
          <a:solidFill>
            <a:srgbClr val="DA291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marker-9">
            <a:extLst>
              <a:ext uri="{FF2B5EF4-FFF2-40B4-BE49-F238E27FC236}">
                <a16:creationId xmlns:a16="http://schemas.microsoft.com/office/drawing/2014/main" id="{C868B399-9959-443B-AF32-C09EA6B9CF8B}"/>
              </a:ext>
            </a:extLst>
          </p:cNvPr>
          <p:cNvSpPr>
            <a:spLocks noGrp="1"/>
          </p:cNvSpPr>
          <p:nvPr/>
        </p:nvSpPr>
        <p:spPr>
          <a:xfrm>
            <a:off x="571500" y="457200"/>
            <a:ext cx="114300" cy="114300"/>
          </a:xfrm>
          <a:prstGeom prst="ellipse">
            <a:avLst/>
          </a:prstGeom>
          <a:solidFill>
            <a:srgbClr val="DA291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-9">
            <a:extLst>
              <a:ext uri="{FF2B5EF4-FFF2-40B4-BE49-F238E27FC236}">
                <a16:creationId xmlns:a16="http://schemas.microsoft.com/office/drawing/2014/main" id="{9F7E5995-D0AE-4F0E-B28A-BBAE0033B3D6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000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9F191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9F1914"/>
                </a:solidFill>
                <a:latin typeface="Aptos"/>
                <a:ea typeface="Aptos"/>
                <a:cs typeface="Aptos"/>
              </a:rPr>
              <a:t>IMPLEMENTATION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83EBCDE-9CEA-4228-A1A0-F48485F44991}"/>
              </a:ext>
            </a:extLst>
          </p:cNvPr>
          <p:cNvSpPr>
            <a:spLocks noGrp="1"/>
          </p:cNvSpPr>
          <p:nvPr/>
        </p:nvSpPr>
        <p:spPr>
          <a:xfrm>
            <a:off x="571500" y="742950"/>
            <a:ext cx="87630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241714"/>
                </a:solidFill>
                <a:latin typeface="Georgia"/>
                <a:ea typeface="Georgia"/>
                <a:cs typeface="Georgia"/>
              </a:defRPr>
            </a:pPr>
            <a:r>
              <a:rPr sz="2700" b="1">
                <a:solidFill>
                  <a:srgbClr val="241714"/>
                </a:solidFill>
                <a:latin typeface="Georgia"/>
                <a:ea typeface="Georgia"/>
                <a:cs typeface="Georgia"/>
              </a:rPr>
              <a:t>The implementation uses a practical Laravel + Expo stack.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8FFD37-6AE1-4722-B970-8D5FFFA3BDF8}"/>
              </a:ext>
            </a:extLst>
          </p:cNvPr>
          <p:cNvSpPr>
            <a:spLocks noGrp="1"/>
          </p:cNvSpPr>
          <p:nvPr/>
        </p:nvSpPr>
        <p:spPr>
          <a:xfrm>
            <a:off x="590550" y="1790700"/>
            <a:ext cx="72390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6A564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A5647"/>
                </a:solidFill>
                <a:latin typeface="Aptos"/>
                <a:ea typeface="Aptos"/>
                <a:cs typeface="Aptos"/>
              </a:rPr>
              <a:t>The selected technologies match the system need for web dashboards, mobile access, authentication, APIs, and database-backed operations.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B2DC5C3-9139-4734-99F8-46C210D0F72C}"/>
              </a:ext>
            </a:extLst>
          </p:cNvPr>
          <p:cNvSpPr>
            <a:spLocks noGrp="1"/>
          </p:cNvSpPr>
          <p:nvPr/>
        </p:nvSpPr>
        <p:spPr>
          <a:xfrm>
            <a:off x="1143000" y="2628900"/>
            <a:ext cx="8572500" cy="14288"/>
          </a:xfrm>
          <a:prstGeom prst="rect">
            <a:avLst/>
          </a:prstGeom>
          <a:solidFill>
            <a:srgbClr val="E4B12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EAC8CFC-F013-4555-A4A1-EB41D756BB26}"/>
              </a:ext>
            </a:extLst>
          </p:cNvPr>
          <p:cNvSpPr>
            <a:spLocks noGrp="1"/>
          </p:cNvSpPr>
          <p:nvPr/>
        </p:nvSpPr>
        <p:spPr>
          <a:xfrm>
            <a:off x="1190625" y="2190750"/>
            <a:ext cx="1428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9F1914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9F1914"/>
                </a:solidFill>
                <a:latin typeface="Aptos"/>
                <a:ea typeface="Aptos"/>
                <a:cs typeface="Aptos"/>
              </a:rPr>
              <a:t>Backend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69E6639-C7B6-45B2-9504-AE8B6FD93389}"/>
              </a:ext>
            </a:extLst>
          </p:cNvPr>
          <p:cNvSpPr>
            <a:spLocks noGrp="1"/>
          </p:cNvSpPr>
          <p:nvPr/>
        </p:nvSpPr>
        <p:spPr>
          <a:xfrm>
            <a:off x="2952750" y="2209800"/>
            <a:ext cx="6096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24171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241714"/>
                </a:solidFill>
                <a:latin typeface="Aptos"/>
                <a:ea typeface="Aptos"/>
                <a:cs typeface="Aptos"/>
              </a:rPr>
              <a:t>PHP · Laravel · Eloquent ORM · Sanctum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DD720AF-DDE1-4F10-9124-D918A62932BB}"/>
              </a:ext>
            </a:extLst>
          </p:cNvPr>
          <p:cNvSpPr>
            <a:spLocks noGrp="1"/>
          </p:cNvSpPr>
          <p:nvPr/>
        </p:nvSpPr>
        <p:spPr>
          <a:xfrm>
            <a:off x="1143000" y="3314700"/>
            <a:ext cx="8572500" cy="14288"/>
          </a:xfrm>
          <a:prstGeom prst="rect">
            <a:avLst/>
          </a:prstGeom>
          <a:solidFill>
            <a:srgbClr val="E6D5B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528D02C-E21E-49CA-B2E0-3CE5EECA65CD}"/>
              </a:ext>
            </a:extLst>
          </p:cNvPr>
          <p:cNvSpPr>
            <a:spLocks noGrp="1"/>
          </p:cNvSpPr>
          <p:nvPr/>
        </p:nvSpPr>
        <p:spPr>
          <a:xfrm>
            <a:off x="1190625" y="2876550"/>
            <a:ext cx="1428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9F1914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9F1914"/>
                </a:solidFill>
                <a:latin typeface="Aptos"/>
                <a:ea typeface="Aptos"/>
                <a:cs typeface="Aptos"/>
              </a:rPr>
              <a:t>Web UI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F334AA6-6419-4A69-BF82-3FBEC0AFA45D}"/>
              </a:ext>
            </a:extLst>
          </p:cNvPr>
          <p:cNvSpPr>
            <a:spLocks noGrp="1"/>
          </p:cNvSpPr>
          <p:nvPr/>
        </p:nvSpPr>
        <p:spPr>
          <a:xfrm>
            <a:off x="2952750" y="2895600"/>
            <a:ext cx="6096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24171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241714"/>
                </a:solidFill>
                <a:latin typeface="Aptos"/>
                <a:ea typeface="Aptos"/>
                <a:cs typeface="Aptos"/>
              </a:rPr>
              <a:t>Vue.js · Inertia.js · Vite · Tailwind CSS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6778D4E-8FA7-44E3-8307-6BD538797084}"/>
              </a:ext>
            </a:extLst>
          </p:cNvPr>
          <p:cNvSpPr>
            <a:spLocks noGrp="1"/>
          </p:cNvSpPr>
          <p:nvPr/>
        </p:nvSpPr>
        <p:spPr>
          <a:xfrm>
            <a:off x="1143000" y="4000500"/>
            <a:ext cx="8572500" cy="14288"/>
          </a:xfrm>
          <a:prstGeom prst="rect">
            <a:avLst/>
          </a:prstGeom>
          <a:solidFill>
            <a:srgbClr val="E4B12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B46213E-F574-403D-AB0A-AA964950DA02}"/>
              </a:ext>
            </a:extLst>
          </p:cNvPr>
          <p:cNvSpPr>
            <a:spLocks noGrp="1"/>
          </p:cNvSpPr>
          <p:nvPr/>
        </p:nvSpPr>
        <p:spPr>
          <a:xfrm>
            <a:off x="1190625" y="3562350"/>
            <a:ext cx="1428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9F1914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9F1914"/>
                </a:solidFill>
                <a:latin typeface="Aptos"/>
                <a:ea typeface="Aptos"/>
                <a:cs typeface="Aptos"/>
              </a:rPr>
              <a:t>Mobile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F550678-2548-4268-BEE7-4FCDDAE5AA90}"/>
              </a:ext>
            </a:extLst>
          </p:cNvPr>
          <p:cNvSpPr>
            <a:spLocks noGrp="1"/>
          </p:cNvSpPr>
          <p:nvPr/>
        </p:nvSpPr>
        <p:spPr>
          <a:xfrm>
            <a:off x="2952750" y="3581400"/>
            <a:ext cx="6096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24171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241714"/>
                </a:solidFill>
                <a:latin typeface="Aptos"/>
                <a:ea typeface="Aptos"/>
                <a:cs typeface="Aptos"/>
              </a:rPr>
              <a:t>Expo · React Native · TypeScript · AsyncStorage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D1370DF-1CDF-456D-96A1-2036091AA9CF}"/>
              </a:ext>
            </a:extLst>
          </p:cNvPr>
          <p:cNvSpPr>
            <a:spLocks noGrp="1"/>
          </p:cNvSpPr>
          <p:nvPr/>
        </p:nvSpPr>
        <p:spPr>
          <a:xfrm>
            <a:off x="1143000" y="4686300"/>
            <a:ext cx="8572500" cy="14288"/>
          </a:xfrm>
          <a:prstGeom prst="rect">
            <a:avLst/>
          </a:prstGeom>
          <a:solidFill>
            <a:srgbClr val="E6D5B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C1FDE38-7678-4617-8E21-0079B458B464}"/>
              </a:ext>
            </a:extLst>
          </p:cNvPr>
          <p:cNvSpPr>
            <a:spLocks noGrp="1"/>
          </p:cNvSpPr>
          <p:nvPr/>
        </p:nvSpPr>
        <p:spPr>
          <a:xfrm>
            <a:off x="1190625" y="4248150"/>
            <a:ext cx="1428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9F1914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9F1914"/>
                </a:solidFill>
                <a:latin typeface="Aptos"/>
                <a:ea typeface="Aptos"/>
                <a:cs typeface="Aptos"/>
              </a:rPr>
              <a:t>Data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3888225-B16A-403E-91B9-DF4C5D66F69D}"/>
              </a:ext>
            </a:extLst>
          </p:cNvPr>
          <p:cNvSpPr>
            <a:spLocks noGrp="1"/>
          </p:cNvSpPr>
          <p:nvPr/>
        </p:nvSpPr>
        <p:spPr>
          <a:xfrm>
            <a:off x="2952750" y="4267200"/>
            <a:ext cx="6096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24171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241714"/>
                </a:solidFill>
                <a:latin typeface="Aptos"/>
                <a:ea typeface="Aptos"/>
                <a:cs typeface="Aptos"/>
              </a:rPr>
              <a:t>Users · Reservations · Branches · Packages · Menu · Add-ons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C5C06D4-82E1-4CBC-ACEC-4B8CD4D7584F}"/>
              </a:ext>
            </a:extLst>
          </p:cNvPr>
          <p:cNvSpPr>
            <a:spLocks noGrp="1"/>
          </p:cNvSpPr>
          <p:nvPr/>
        </p:nvSpPr>
        <p:spPr>
          <a:xfrm>
            <a:off x="1143000" y="5372100"/>
            <a:ext cx="8572500" cy="14288"/>
          </a:xfrm>
          <a:prstGeom prst="rect">
            <a:avLst/>
          </a:prstGeom>
          <a:solidFill>
            <a:srgbClr val="E4B12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FB38B67-891B-4F76-9BDA-6A9DA338CE41}"/>
              </a:ext>
            </a:extLst>
          </p:cNvPr>
          <p:cNvSpPr>
            <a:spLocks noGrp="1"/>
          </p:cNvSpPr>
          <p:nvPr/>
        </p:nvSpPr>
        <p:spPr>
          <a:xfrm>
            <a:off x="1190625" y="4933950"/>
            <a:ext cx="1428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9F1914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9F1914"/>
                </a:solidFill>
                <a:latin typeface="Aptos"/>
                <a:ea typeface="Aptos"/>
                <a:cs typeface="Aptos"/>
              </a:rPr>
              <a:t>Storage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60056A3-AFD1-4ACC-9074-3FAA05F66B3D}"/>
              </a:ext>
            </a:extLst>
          </p:cNvPr>
          <p:cNvSpPr>
            <a:spLocks noGrp="1"/>
          </p:cNvSpPr>
          <p:nvPr/>
        </p:nvSpPr>
        <p:spPr>
          <a:xfrm>
            <a:off x="2952750" y="4953000"/>
            <a:ext cx="6096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24171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241714"/>
                </a:solidFill>
                <a:latin typeface="Aptos"/>
                <a:ea typeface="Aptos"/>
                <a:cs typeface="Aptos"/>
              </a:rPr>
              <a:t>Payment proof upload and reservation assets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EBD5F10A-D35B-4B93-A555-B6CF2B42844E}"/>
              </a:ext>
            </a:extLst>
          </p:cNvPr>
          <p:cNvSpPr>
            <a:spLocks noGrp="1"/>
          </p:cNvSpPr>
          <p:nvPr/>
        </p:nvSpPr>
        <p:spPr>
          <a:xfrm>
            <a:off x="8858250" y="4533900"/>
            <a:ext cx="2238375" cy="819150"/>
          </a:xfrm>
          <a:prstGeom prst="roundRect">
            <a:avLst>
              <a:gd name="adj" fmla="val 9302"/>
            </a:avLst>
          </a:prstGeom>
          <a:solidFill>
            <a:srgbClr val="FFF2C7"/>
          </a:solidFill>
          <a:ln w="11430">
            <a:solidFill>
              <a:srgbClr val="E6D5B2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BD32844-D62E-4F19-8A15-5D3A06F7066F}"/>
              </a:ext>
            </a:extLst>
          </p:cNvPr>
          <p:cNvSpPr>
            <a:spLocks noGrp="1"/>
          </p:cNvSpPr>
          <p:nvPr/>
        </p:nvSpPr>
        <p:spPr>
          <a:xfrm>
            <a:off x="9096375" y="4762500"/>
            <a:ext cx="1714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9F191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9F1914"/>
                </a:solidFill>
                <a:latin typeface="Aptos"/>
                <a:ea typeface="Aptos"/>
                <a:cs typeface="Aptos"/>
              </a:rPr>
              <a:t>Web + Android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BCCFD9A-92DE-4594-9893-F21165B27C75}"/>
              </a:ext>
            </a:extLst>
          </p:cNvPr>
          <p:cNvSpPr>
            <a:spLocks noGrp="1"/>
          </p:cNvSpPr>
          <p:nvPr/>
        </p:nvSpPr>
        <p:spPr>
          <a:xfrm>
            <a:off x="9096375" y="5067300"/>
            <a:ext cx="1619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A564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A5647"/>
                </a:solidFill>
                <a:latin typeface="Aptos"/>
                <a:ea typeface="Aptos"/>
                <a:cs typeface="Aptos"/>
              </a:rPr>
              <a:t>Two clients sharing one backend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E3FD01D-7058-4313-BE36-088645FCC746}"/>
              </a:ext>
            </a:extLst>
          </p:cNvPr>
          <p:cNvSpPr>
            <a:spLocks noGrp="1"/>
          </p:cNvSpPr>
          <p:nvPr/>
        </p:nvSpPr>
        <p:spPr>
          <a:xfrm>
            <a:off x="11287125" y="63246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A564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A5647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B8C4A86-C34B-42B2-A35B-22E6B3C07897}"/>
              </a:ext>
            </a:extLst>
          </p:cNvPr>
          <p:cNvSpPr>
            <a:spLocks noGrp="1"/>
          </p:cNvSpPr>
          <p:nvPr/>
        </p:nvSpPr>
        <p:spPr>
          <a:xfrm>
            <a:off x="571500" y="6448425"/>
            <a:ext cx="10287000" cy="9525"/>
          </a:xfrm>
          <a:prstGeom prst="rect">
            <a:avLst/>
          </a:prstGeom>
          <a:solidFill>
            <a:srgbClr val="E6D5B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2817751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C97119D0-811A-4323-BEE8-F64FB3DA886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8E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6E6DF30-A271-43F6-A867-95401238688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FFC72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471EC49-4A10-4ED4-87B0-6B4BA48350BD}"/>
              </a:ext>
            </a:extLst>
          </p:cNvPr>
          <p:cNvSpPr>
            <a:spLocks noGrp="1"/>
          </p:cNvSpPr>
          <p:nvPr/>
        </p:nvSpPr>
        <p:spPr>
          <a:xfrm>
            <a:off x="0" y="152400"/>
            <a:ext cx="12192000" cy="47625"/>
          </a:xfrm>
          <a:prstGeom prst="rect">
            <a:avLst/>
          </a:prstGeom>
          <a:solidFill>
            <a:srgbClr val="DA291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marker-12">
            <a:extLst>
              <a:ext uri="{FF2B5EF4-FFF2-40B4-BE49-F238E27FC236}">
                <a16:creationId xmlns:a16="http://schemas.microsoft.com/office/drawing/2014/main" id="{57275FAB-4094-422A-A8C3-CC82E1CD28F2}"/>
              </a:ext>
            </a:extLst>
          </p:cNvPr>
          <p:cNvSpPr>
            <a:spLocks noGrp="1"/>
          </p:cNvSpPr>
          <p:nvPr/>
        </p:nvSpPr>
        <p:spPr>
          <a:xfrm>
            <a:off x="571500" y="457200"/>
            <a:ext cx="114300" cy="114300"/>
          </a:xfrm>
          <a:prstGeom prst="ellipse">
            <a:avLst/>
          </a:prstGeom>
          <a:solidFill>
            <a:srgbClr val="DA291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-12">
            <a:extLst>
              <a:ext uri="{FF2B5EF4-FFF2-40B4-BE49-F238E27FC236}">
                <a16:creationId xmlns:a16="http://schemas.microsoft.com/office/drawing/2014/main" id="{625BD27D-C552-422E-A633-F9397AC202DA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000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9F191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9F1914"/>
                </a:solidFill>
                <a:latin typeface="Aptos"/>
                <a:ea typeface="Aptos"/>
                <a:cs typeface="Aptos"/>
              </a:rPr>
              <a:t>CONCLUSION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63F4408-5E56-4497-AC6F-5D26E939EF26}"/>
              </a:ext>
            </a:extLst>
          </p:cNvPr>
          <p:cNvSpPr>
            <a:spLocks noGrp="1"/>
          </p:cNvSpPr>
          <p:nvPr/>
        </p:nvSpPr>
        <p:spPr>
          <a:xfrm>
            <a:off x="571500" y="742950"/>
            <a:ext cx="87630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241714"/>
                </a:solidFill>
                <a:latin typeface="Georgia"/>
                <a:ea typeface="Georgia"/>
                <a:cs typeface="Georgia"/>
              </a:defRPr>
            </a:pPr>
            <a:r>
              <a:rPr sz="2700" b="1">
                <a:solidFill>
                  <a:srgbClr val="241714"/>
                </a:solidFill>
                <a:latin typeface="Georgia"/>
                <a:ea typeface="Georgia"/>
                <a:cs typeface="Georgia"/>
              </a:rPr>
              <a:t>The objectives were met, with clear paths for future improvement.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8BE14E3-B501-4885-981F-61B7A4B00D9D}"/>
              </a:ext>
            </a:extLst>
          </p:cNvPr>
          <p:cNvSpPr>
            <a:spLocks noGrp="1"/>
          </p:cNvSpPr>
          <p:nvPr/>
        </p:nvSpPr>
        <p:spPr>
          <a:xfrm>
            <a:off x="590550" y="1790700"/>
            <a:ext cx="72390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6A564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A5647"/>
                </a:solidFill>
                <a:latin typeface="Aptos"/>
                <a:ea typeface="Aptos"/>
                <a:cs typeface="Aptos"/>
              </a:rPr>
              <a:t>The capstone delivers a functional integrated reservation platform and identifies practical enhancements for real deployment.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8D9F628-AB2B-4556-B373-042DEF5C6ED0}"/>
              </a:ext>
            </a:extLst>
          </p:cNvPr>
          <p:cNvSpPr>
            <a:spLocks noGrp="1"/>
          </p:cNvSpPr>
          <p:nvPr/>
        </p:nvSpPr>
        <p:spPr>
          <a:xfrm>
            <a:off x="809625" y="2266950"/>
            <a:ext cx="4762500" cy="2381250"/>
          </a:xfrm>
          <a:prstGeom prst="roundRect">
            <a:avLst>
              <a:gd name="adj" fmla="val 3200"/>
            </a:avLst>
          </a:prstGeom>
          <a:solidFill>
            <a:srgbClr val="FFF2C7"/>
          </a:solidFill>
          <a:ln w="11430">
            <a:solidFill>
              <a:srgbClr val="E6D5B2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8AE5011-F300-4DE0-9945-EA7E9DCF4F85}"/>
              </a:ext>
            </a:extLst>
          </p:cNvPr>
          <p:cNvSpPr>
            <a:spLocks noGrp="1"/>
          </p:cNvSpPr>
          <p:nvPr/>
        </p:nvSpPr>
        <p:spPr>
          <a:xfrm>
            <a:off x="1123950" y="2571750"/>
            <a:ext cx="2095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9F1914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9F1914"/>
                </a:solidFill>
                <a:latin typeface="Georgia"/>
                <a:ea typeface="Georgia"/>
                <a:cs typeface="Georgia"/>
              </a:rPr>
              <a:t>Conclusion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046390C-0D13-4BE5-B86A-E2404A7697BB}"/>
              </a:ext>
            </a:extLst>
          </p:cNvPr>
          <p:cNvSpPr>
            <a:spLocks noGrp="1"/>
          </p:cNvSpPr>
          <p:nvPr/>
        </p:nvSpPr>
        <p:spPr>
          <a:xfrm>
            <a:off x="1143000" y="3200400"/>
            <a:ext cx="66675" cy="66675"/>
          </a:xfrm>
          <a:prstGeom prst="ellipse">
            <a:avLst/>
          </a:prstGeom>
          <a:solidFill>
            <a:srgbClr val="DA291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255126C-3619-4905-866C-2ED67E0502B2}"/>
              </a:ext>
            </a:extLst>
          </p:cNvPr>
          <p:cNvSpPr>
            <a:spLocks noGrp="1"/>
          </p:cNvSpPr>
          <p:nvPr/>
        </p:nvSpPr>
        <p:spPr>
          <a:xfrm>
            <a:off x="1314450" y="3124200"/>
            <a:ext cx="35433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24171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41714"/>
                </a:solidFill>
                <a:latin typeface="Aptos"/>
                <a:ea typeface="Aptos"/>
                <a:cs typeface="Aptos"/>
              </a:rPr>
              <a:t>Centralizes event reservation records and status monitoring.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DFA307A-75FD-4917-9BFE-6805EDF30CBF}"/>
              </a:ext>
            </a:extLst>
          </p:cNvPr>
          <p:cNvSpPr>
            <a:spLocks noGrp="1"/>
          </p:cNvSpPr>
          <p:nvPr/>
        </p:nvSpPr>
        <p:spPr>
          <a:xfrm>
            <a:off x="1143000" y="3714750"/>
            <a:ext cx="66675" cy="66675"/>
          </a:xfrm>
          <a:prstGeom prst="ellipse">
            <a:avLst/>
          </a:prstGeom>
          <a:solidFill>
            <a:srgbClr val="DA291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A745D40-3FDB-4D54-B6FA-EE72889AA73E}"/>
              </a:ext>
            </a:extLst>
          </p:cNvPr>
          <p:cNvSpPr>
            <a:spLocks noGrp="1"/>
          </p:cNvSpPr>
          <p:nvPr/>
        </p:nvSpPr>
        <p:spPr>
          <a:xfrm>
            <a:off x="1314450" y="3638550"/>
            <a:ext cx="35433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24171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41714"/>
                </a:solidFill>
                <a:latin typeface="Aptos"/>
                <a:ea typeface="Aptos"/>
                <a:cs typeface="Aptos"/>
              </a:rPr>
              <a:t>Connects customer booking, admin approval, and staff operations.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2062CFD-2CB9-40BD-A885-2E917412B8F5}"/>
              </a:ext>
            </a:extLst>
          </p:cNvPr>
          <p:cNvSpPr>
            <a:spLocks noGrp="1"/>
          </p:cNvSpPr>
          <p:nvPr/>
        </p:nvSpPr>
        <p:spPr>
          <a:xfrm>
            <a:off x="1143000" y="4229100"/>
            <a:ext cx="66675" cy="66675"/>
          </a:xfrm>
          <a:prstGeom prst="ellipse">
            <a:avLst/>
          </a:prstGeom>
          <a:solidFill>
            <a:srgbClr val="DA291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44F0B62-E962-4DB0-9425-E4435AE08289}"/>
              </a:ext>
            </a:extLst>
          </p:cNvPr>
          <p:cNvSpPr>
            <a:spLocks noGrp="1"/>
          </p:cNvSpPr>
          <p:nvPr/>
        </p:nvSpPr>
        <p:spPr>
          <a:xfrm>
            <a:off x="1314450" y="4152900"/>
            <a:ext cx="35433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24171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41714"/>
                </a:solidFill>
                <a:latin typeface="Aptos"/>
                <a:ea typeface="Aptos"/>
                <a:cs typeface="Aptos"/>
              </a:rPr>
              <a:t>Provides Android access for booking, dashboard, and account workflows.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3AAAD104-03D8-4943-8E8C-184283F1D829}"/>
              </a:ext>
            </a:extLst>
          </p:cNvPr>
          <p:cNvSpPr>
            <a:spLocks noGrp="1"/>
          </p:cNvSpPr>
          <p:nvPr/>
        </p:nvSpPr>
        <p:spPr>
          <a:xfrm>
            <a:off x="6477000" y="2266950"/>
            <a:ext cx="4762500" cy="2381250"/>
          </a:xfrm>
          <a:prstGeom prst="roundRect">
            <a:avLst>
              <a:gd name="adj" fmla="val 3200"/>
            </a:avLst>
          </a:prstGeom>
          <a:solidFill>
            <a:srgbClr val="FFFDF8"/>
          </a:solidFill>
          <a:ln w="11430">
            <a:solidFill>
              <a:srgbClr val="E6D5B2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086C7F8-6BBC-440B-B19D-C312B3D8494F}"/>
              </a:ext>
            </a:extLst>
          </p:cNvPr>
          <p:cNvSpPr>
            <a:spLocks noGrp="1"/>
          </p:cNvSpPr>
          <p:nvPr/>
        </p:nvSpPr>
        <p:spPr>
          <a:xfrm>
            <a:off x="6791325" y="2571750"/>
            <a:ext cx="2857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241714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241714"/>
                </a:solidFill>
                <a:latin typeface="Georgia"/>
                <a:ea typeface="Georgia"/>
                <a:cs typeface="Georgia"/>
              </a:rPr>
              <a:t>Recommendations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89D90E4F-872D-4D44-B7E5-6EB6F637C94B}"/>
              </a:ext>
            </a:extLst>
          </p:cNvPr>
          <p:cNvSpPr>
            <a:spLocks noGrp="1"/>
          </p:cNvSpPr>
          <p:nvPr/>
        </p:nvSpPr>
        <p:spPr>
          <a:xfrm>
            <a:off x="6810375" y="3200400"/>
            <a:ext cx="66675" cy="66675"/>
          </a:xfrm>
          <a:prstGeom prst="ellipse">
            <a:avLst/>
          </a:prstGeom>
          <a:solidFill>
            <a:srgbClr val="DA291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41CF69D-6E9D-4DCB-B4C3-A396CA6FBC6A}"/>
              </a:ext>
            </a:extLst>
          </p:cNvPr>
          <p:cNvSpPr>
            <a:spLocks noGrp="1"/>
          </p:cNvSpPr>
          <p:nvPr/>
        </p:nvSpPr>
        <p:spPr>
          <a:xfrm>
            <a:off x="6981825" y="3124200"/>
            <a:ext cx="36385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24171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41714"/>
                </a:solidFill>
                <a:latin typeface="Aptos"/>
                <a:ea typeface="Aptos"/>
                <a:cs typeface="Aptos"/>
              </a:rPr>
              <a:t>iOS version and push/SMS/email notifications.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D384737-B99F-41B7-B65C-14DB8CEEDD73}"/>
              </a:ext>
            </a:extLst>
          </p:cNvPr>
          <p:cNvSpPr>
            <a:spLocks noGrp="1"/>
          </p:cNvSpPr>
          <p:nvPr/>
        </p:nvSpPr>
        <p:spPr>
          <a:xfrm>
            <a:off x="6810375" y="3714750"/>
            <a:ext cx="66675" cy="66675"/>
          </a:xfrm>
          <a:prstGeom prst="ellipse">
            <a:avLst/>
          </a:prstGeom>
          <a:solidFill>
            <a:srgbClr val="DA291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306236D-ADC0-41C9-8527-03D13CB64B84}"/>
              </a:ext>
            </a:extLst>
          </p:cNvPr>
          <p:cNvSpPr>
            <a:spLocks noGrp="1"/>
          </p:cNvSpPr>
          <p:nvPr/>
        </p:nvSpPr>
        <p:spPr>
          <a:xfrm>
            <a:off x="6981825" y="3638550"/>
            <a:ext cx="36385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24171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41714"/>
                </a:solidFill>
                <a:latin typeface="Aptos"/>
                <a:ea typeface="Aptos"/>
                <a:cs typeface="Aptos"/>
              </a:rPr>
              <a:t>Online payment gateway and improved QR check-in.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CF97BC8E-3E55-419E-A435-3EC20CDD8C6F}"/>
              </a:ext>
            </a:extLst>
          </p:cNvPr>
          <p:cNvSpPr>
            <a:spLocks noGrp="1"/>
          </p:cNvSpPr>
          <p:nvPr/>
        </p:nvSpPr>
        <p:spPr>
          <a:xfrm>
            <a:off x="6810375" y="4229100"/>
            <a:ext cx="66675" cy="66675"/>
          </a:xfrm>
          <a:prstGeom prst="ellipse">
            <a:avLst/>
          </a:prstGeom>
          <a:solidFill>
            <a:srgbClr val="DA291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E6D3E4A-2296-422F-AB1D-7C2ED3CB8F2F}"/>
              </a:ext>
            </a:extLst>
          </p:cNvPr>
          <p:cNvSpPr>
            <a:spLocks noGrp="1"/>
          </p:cNvSpPr>
          <p:nvPr/>
        </p:nvSpPr>
        <p:spPr>
          <a:xfrm>
            <a:off x="6981825" y="4152900"/>
            <a:ext cx="36385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24171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41714"/>
                </a:solidFill>
                <a:latin typeface="Aptos"/>
                <a:ea typeface="Aptos"/>
                <a:cs typeface="Aptos"/>
              </a:rPr>
              <a:t>More analytics, audit logs, and larger respondent testing.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0F73B88-60BD-4FCC-902E-2E134652318C}"/>
              </a:ext>
            </a:extLst>
          </p:cNvPr>
          <p:cNvSpPr>
            <a:spLocks noGrp="1"/>
          </p:cNvSpPr>
          <p:nvPr/>
        </p:nvSpPr>
        <p:spPr>
          <a:xfrm>
            <a:off x="11287125" y="63246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A564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A5647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508A079-1488-409A-88FD-28943372E45E}"/>
              </a:ext>
            </a:extLst>
          </p:cNvPr>
          <p:cNvSpPr>
            <a:spLocks noGrp="1"/>
          </p:cNvSpPr>
          <p:nvPr/>
        </p:nvSpPr>
        <p:spPr>
          <a:xfrm>
            <a:off x="571500" y="6448425"/>
            <a:ext cx="10287000" cy="9525"/>
          </a:xfrm>
          <a:prstGeom prst="rect">
            <a:avLst/>
          </a:prstGeom>
          <a:solidFill>
            <a:srgbClr val="E6D5B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23490181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865</Words>
  <Application>Microsoft Office PowerPoint</Application>
  <DocSecurity>0</DocSecurity>
  <PresentationFormat>Widescreen</PresentationFormat>
  <Paragraphs>137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Calibri</vt:lpstr>
      <vt:lpstr>Georgia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Jay Christian Estampa</cp:lastModifiedBy>
  <cp:revision>3</cp:revision>
  <dcterms:created xsi:type="dcterms:W3CDTF">2026-05-06T12:01:13Z</dcterms:created>
  <dcterms:modified xsi:type="dcterms:W3CDTF">2026-05-06T13:26:52Z</dcterms:modified>
</cp:coreProperties>
</file>